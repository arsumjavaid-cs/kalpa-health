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Instrument Sans" pitchFamily="34" charset="0"/>
      <p:regular r:id="rId17"/>
      <p:bold r:id="rId18"/>
    </p:embeddedFont>
    <p:embeddedFont>
      <p:font typeface="Instrument Serif" pitchFamily="18"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Menon asked us one thing: before she signs off on doubling the offer budget, did the offer cause the rise in bookings? Marketing’s case is a 9% rise in bookings from Q4 2025 to Q1 2026, the quarter when the ₹150 home-collection fee was waived on every home booking. What she needs is narrower and harder than “did bookings go up”. She needs to know how many bookings the offer added that Kalpa would not otherwise have had, what each of those cost, and so whether to double the budget, hold it, or cut it. That decision is what the rest of the deck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broke the question down, left to right. One: marketing’s 9% is a five-city count. Bengaluru was spelled “Bangalore” until December and “Bengaluru” from January, so a count that only keeps names on both lists loses the city in both quarters. Two: counted across all six cities, bookings rose 9,947, from 89,674 to 99,621. Three: but January is a busy month. Against the same quarter a year earlier, 96,122 bookings, the rise is 3,499. The other 6,448 of the 9,947 is the season, not the offer. Four: inside the 48,869 free home bookings, 32,816 would have paid the fee anyway, because that is how many paid home bookings Q1 2025 already had; 12,554 moved from a clinic, because clinic bookings fell from 63,306 to 50,752; and 3,499, about 7%, were extra. How far that 3,499 could move, 1,755 to 4,842, and why, is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claim, in one sentence: about 3,500 of the 48,869 free home bookings in January to March 2026, around 7%, were bookings Kalpa would not otherwise have had. The exact central figure is 3,499, and the range we stand behind is 1,755 to 4,842. It is a claim about the six cities, counting bookings by visit date, and it compares Q1 2026 with the same quarter a year earlier. It is deliberately not marketing’s 9%: most of the free bookings would have happened anyway, either as paid home bookings or as clinic visits that moved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and one chart carry the claim. First, against the same quarter a year earlier, bookings rose only 3.6%, from 96,122 to 99,621. Second, 71% of the 48,869 offer bookings, 34,758 of them, came from people who were already Kalpa patients. Third, clinic bookings fell by 12,554, from 63,306 to 50,752, so a large part of the jump in home bookings is people switching channel, not new demand. The chart shows the same thing month by month, home collection on top, clinic below, on the same scale. In January 2026 home bookings jump from about 10,000 a month to 16,218, while clinic bookings fall from about 20,000 to 16,664. When the fee came back in April, home fell to 12,924 and clinic recovered to 19,261. Most of what the offer touched would have happened anyway, at home or at a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shows every estimate of extra bookings we computed. The filled dots survived our stress tests; the red one is our central estimate, 3,499, and the shaded band is the range we keep, 1,755 to 4,842. The hollow dots are set aside. The biggest caveat: our data starts in January 2025, so we have exactly one earlier January to compare with. If a normal January is much busier than January 2025 was, our estimate is too high; if 2025 was unusually busy, it is too low. And because every home booking got the offer, nobody was held back, so every estimate leans on a yardstick. Two approaches we rejected. The previous quarter, 9,947, is marketing’s frame, but after the offer ended bookings stayed 6.4% above Q4 2025, at 95,423 in Q2 2026, so Q4 2025 is not what Q1 would have looked like. And comparing offer users with non-users gives 14,264, but the same method finds 9,068 to 9,816 “extra” bookings in 2025 quarters with no offer at all: it measures who books at home, not the offer. Both would be worth revisiting once there is a random held-back group, which is exactly what we recommend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we double the budget? No. At our central estimate the offer bought 3,499 extra bookings for ₹73.3 lakh of waived fees: ₹2,095 per extra booking, against ₹1,619 of booked test value per booking. So it fell about ₹16.6 lakh short, before paying for a single phlebotomist visit. To break even it needed 4,527 extra bookings, 9.3% of the 48,869. Our central estimate is below that line; our high estimate, 4,842, is just above it. And ₹1,619 is the most a booking can be worth, because it counts every test booked, including patients who never turned up. Being wrong costs about the same either way. Doubling an offer that doesn’t work spends another ₹73.3 lakh a quarter for very little; cutting one that does work loses ₹56.7 to ₹78.4 lakh of booked tests a quarter. The two bars compare different kinds of loss, money spent against revenue not earned, so I’ll say that plainly. Because the risks are close and our data can’t settle the January question, we recommend a test, not a verdict: hold the budget, keep a random 20% of patients out for one quarter, which costs about ₹59 lakh in waived fees, and compare the two groups. If the offer adds more than 9.3%, keep it; if not, cut it. If a home visit costs ₹150, cost per extra booking rises to ₹2,783 and break-even to 6,014.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asks where marketing’s 9% comes from: we tested 1,968 ways of counting bookings. Counted properly across all six cities, bookings rose 11.09% from Q4 2025 to Q1 2026. Marketing’s 8.91% is the same count without Bengaluru, which disappears because the city is spelled “Bangalore” until December 2025 and “Bengaluru” from January 2026; a count that keeps only names found on both lists loses it in both quarters. The board’s 5% is a different measure: test lines from January to June, 436,302 in 2025 against 457,982 in 2026, which is +4.97%. Against the same quarter a year earlier, bookings rose only 3.64%.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seven estimates with what each one assumes. Five are yardsticks for what Q1 2026 would have looked like without the offer; two come from comparing patients who used the offer with those who didn’t. We keep four. The central one is the same quarter a year earlier, 96,122 bookings, giving 3,499 extra. The low end, 1,755, takes Q2 2026, after the offer, and scales it by how much bigger Q1 was than Q2 in 2025. The high end, 4,842, is the patient comparison after subtracting the average “extra” the same method finds in 2025 with no offer, which was about 9,422. We set aside the previous quarter, because bookings stayed high after the offer; the 2025 trend, because the 2025 decline did not continue; and the raw patient comparison, because the placebo test shows it is biased.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three ways to break the answer. The placebo: we ran the same offer-versus-no-offer comparison on 2025 quarter pairs, when there was no offer, and it still found 9,068 to 9,816 “extra” bookings. So the raw 14,264 is mostly a difference between the kind of people who book at home and those who don’t. After the offer: in the four cities that stayed on the old booking system, home bookings were 54.8% above the same quarter of 2025 during the offer and still 23.7% above in Q2 2026, with total bookings up 5.0%. Bookings did not fall back to Q4 2025 levels, which is why Q4 2025 is the wrong yardstick. Pull-forward: if the offer had only moved bookings earlier, offer users would book much less afterwards. Returning offer users went from 1.275 bookings per person in Q4 2025 to 0.785 in Q2 2026, down 38.4%; non-users fell further, 45.6%. So we see no sign of pure pull-forward.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has no cost for a phlebotomist visit, so we show three assumptions. At zero, because staff are already paid, the offer cost the ₹73.3 lakh of waived fees: ₹2,095 per extra booking at our central estimate, ₹1,514 to ₹4,177 across our range, and it needed 4,527 extra bookings, 9.3% of the offer bookings, to pay for itself. At ₹150 a visit, the same fee Kalpa charges, the 16,053 extra home visits add ₹24.1 lakh, so cost per extra booking rises to ₹2,783 and break-even to 6,014. At ₹300 it is ₹3,471 and 7,501. Value per booking is ₹1,619: the list price of all tests booked in Q1 2026, ₹16.13 crore, divided by 99,621 bookings. That is an upper bound, because some booked patients never turn up, so every break-even here is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127718"/>
            <a:ext cx="10566452" cy="533404"/>
          </a:xfrm>
          <a:prstGeom prst="rect">
            <a:avLst/>
          </a:prstGeom>
          <a:noFill/>
          <a:ln/>
        </p:spPr>
        <p:txBody>
          <a:bodyPr wrap="square" lIns="0" tIns="0" rIns="0" bIns="0" rtlCol="0" anchor="t"/>
          <a:lstStyle>
            <a:lvl1pPr algn="l" indent="0" marL="0">
              <a:lnSpc>
                <a:spcPct val="115000"/>
              </a:lnSpc>
              <a:buNone/>
              <a:defRPr lang="en-US" sz="4000" dirty="0">
                <a:solidFill>
                  <a:srgbClr val="17222A"/>
                </a:solidFill>
                <a:latin typeface="Instrument Serif" pitchFamily="34" charset="0"/>
                <a:ea typeface="Instrument Serif" pitchFamily="34" charset="-122"/>
                <a:cs typeface="Instrument Serif"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767" y="1965922"/>
            <a:ext cx="10566433" cy="4079278"/>
          </a:xfrm>
          <a:prstGeom prst="rect">
            <a:avLst/>
          </a:prstGeom>
          <a:noFill/>
          <a:ln/>
        </p:spPr>
        <p:txBody>
          <a:bodyPr wrap="square" lIns="0" tIns="0" rIns="0" bIns="0" rtlCol="0" anchor="t"/>
          <a:lstStyle>
            <a:lvl1pPr algn="l" indent="0" marL="0">
              <a:lnSpc>
                <a:spcPct val="140000"/>
              </a:lnSpc>
              <a:buNone/>
              <a:defRPr lang="en-US" sz="1600" dirty="0">
                <a:solidFill>
                  <a:srgbClr val="17222A"/>
                </a:solidFill>
                <a:latin typeface="Instrument Sans" pitchFamily="34" charset="0"/>
                <a:ea typeface="Instrument Sans" pitchFamily="34" charset="-122"/>
                <a:cs typeface="Instrument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127718"/>
            <a:ext cx="10566452" cy="533404"/>
          </a:xfrm>
          <a:prstGeom prst="rect">
            <a:avLst/>
          </a:prstGeom>
          <a:noFill/>
          <a:ln/>
        </p:spPr>
        <p:txBody>
          <a:bodyPr wrap="square" lIns="0" tIns="0" rIns="0" bIns="0" rtlCol="0" anchor="t"/>
          <a:lstStyle>
            <a:lvl1pPr algn="l" indent="0" marL="0">
              <a:lnSpc>
                <a:spcPct val="115000"/>
              </a:lnSpc>
              <a:buNone/>
              <a:defRPr lang="en-US" sz="4000" dirty="0">
                <a:solidFill>
                  <a:srgbClr val="17222A"/>
                </a:solidFill>
                <a:latin typeface="Instrument Serif" pitchFamily="34" charset="0"/>
                <a:ea typeface="Instrument Serif" pitchFamily="34" charset="-122"/>
                <a:cs typeface="Instrument Serif"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767" y="1965922"/>
            <a:ext cx="10566433" cy="4079278"/>
          </a:xfrm>
          <a:prstGeom prst="rect">
            <a:avLst/>
          </a:prstGeom>
          <a:noFill/>
          <a:ln/>
        </p:spPr>
        <p:txBody>
          <a:bodyPr wrap="square" lIns="0" tIns="0" rIns="0" bIns="0" rtlCol="0" anchor="t"/>
          <a:lstStyle>
            <a:lvl1pPr algn="l" indent="0" marL="0">
              <a:lnSpc>
                <a:spcPct val="140000"/>
              </a:lnSpc>
              <a:buNone/>
              <a:defRPr lang="en-US" sz="1600" dirty="0">
                <a:solidFill>
                  <a:srgbClr val="17222A"/>
                </a:solidFill>
                <a:latin typeface="Instrument Sans" pitchFamily="34" charset="0"/>
                <a:ea typeface="Instrument Sans" pitchFamily="34" charset="-122"/>
                <a:cs typeface="Instrument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2A"/>
        </a:solidFill>
      </p:bgPr>
    </p:bg>
    <p:spTree>
      <p:nvGrpSpPr>
        <p:cNvPr id="1" name=""/>
        <p:cNvGrpSpPr/>
        <p:nvPr/>
      </p:nvGrpSpPr>
      <p:grpSpPr>
        <a:xfrm>
          <a:off x="0" y="0"/>
          <a:ext cx="0" cy="0"/>
          <a:chOff x="0" y="0"/>
          <a:chExt cx="0" cy="0"/>
        </a:xfrm>
      </p:grpSpPr>
      <p:sp>
        <p:nvSpPr>
          <p:cNvPr id="2" name="Text 0"/>
          <p:cNvSpPr/>
          <p:nvPr/>
        </p:nvSpPr>
        <p:spPr>
          <a:xfrm>
            <a:off x="812767" y="81276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A33A"/>
                </a:solidFill>
                <a:latin typeface="Instrument Sans" pitchFamily="34" charset="0"/>
                <a:ea typeface="Instrument Sans" pitchFamily="34" charset="-122"/>
                <a:cs typeface="Instrument Sans" pitchFamily="34" charset="-120"/>
              </a:rPr>
              <a:t>01 · THE QUESTION</a:t>
            </a:r>
            <a:endParaRPr lang="en-US" sz="1200" dirty="0"/>
          </a:p>
        </p:txBody>
      </p:sp>
      <p:sp>
        <p:nvSpPr>
          <p:cNvPr id="3" name="Text 1"/>
          <p:cNvSpPr/>
          <p:nvPr>
            <p:ph type="title"/>
          </p:nvPr>
        </p:nvSpPr>
        <p:spPr>
          <a:xfrm>
            <a:off x="812767" y="1168370"/>
            <a:ext cx="7717768" cy="1122663"/>
          </a:xfrm>
          <a:prstGeom prst="rect">
            <a:avLst/>
          </a:prstGeom>
          <a:noFill/>
          <a:ln/>
        </p:spPr>
        <p:txBody>
          <a:bodyPr wrap="square" lIns="0" tIns="0" rIns="0" bIns="0" rtlCol="0" anchor="t">
            <a:normAutofit/>
          </a:bodyPr>
          <a:lstStyle/>
          <a:p>
            <a:pPr algn="l" indent="0" marL="0">
              <a:lnSpc>
                <a:spcPts val="4320"/>
              </a:lnSpc>
              <a:buNone/>
            </a:pPr>
            <a:r>
              <a:rPr lang="en-US" sz="4000" b="0" i="0" spc="-50" kern="0" dirty="0">
                <a:solidFill>
                  <a:srgbClr val="F1EDE4"/>
                </a:solidFill>
                <a:latin typeface="Instrument Serif" pitchFamily="18" charset="0"/>
                <a:ea typeface="Instrument Serif" pitchFamily="18" charset="-122"/>
                <a:cs typeface="Instrument Serif" pitchFamily="18" charset="-120"/>
              </a:rPr>
              <a:t>“Before I sign, tell me whether our offer caused our rise.”</a:t>
            </a:r>
            <a:endParaRPr lang="en-US" sz="4000" dirty="0"/>
          </a:p>
        </p:txBody>
      </p:sp>
      <p:sp>
        <p:nvSpPr>
          <p:cNvPr id="4" name="Text 2"/>
          <p:cNvSpPr/>
          <p:nvPr/>
        </p:nvSpPr>
        <p:spPr>
          <a:xfrm>
            <a:off x="812767" y="2997198"/>
            <a:ext cx="7194550"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2C9"/>
                </a:solidFill>
                <a:latin typeface="Instrument Sans" pitchFamily="34" charset="0"/>
                <a:ea typeface="Instrument Sans" pitchFamily="34" charset="-122"/>
                <a:cs typeface="Instrument Sans" pitchFamily="34" charset="-120"/>
              </a:rPr>
              <a:t>Dr Priya Menon, COO, Kalpa Health</a:t>
            </a:r>
            <a:endParaRPr lang="en-US" sz="1600" dirty="0"/>
          </a:p>
        </p:txBody>
      </p:sp>
      <p:sp>
        <p:nvSpPr>
          <p:cNvPr id="5" name="Text 3"/>
          <p:cNvSpPr/>
          <p:nvPr/>
        </p:nvSpPr>
        <p:spPr>
          <a:xfrm>
            <a:off x="8553697" y="952500"/>
            <a:ext cx="2825487" cy="1295400"/>
          </a:xfrm>
          <a:prstGeom prst="rect">
            <a:avLst/>
          </a:prstGeom>
          <a:noFill/>
          <a:ln/>
        </p:spPr>
        <p:txBody>
          <a:bodyPr wrap="square" lIns="0" tIns="0" rIns="0" bIns="0" rtlCol="0" anchor="t">
            <a:normAutofit/>
          </a:bodyPr>
          <a:lstStyle/>
          <a:p>
            <a:pPr algn="r" indent="0" marL="0">
              <a:lnSpc>
                <a:spcPts val="10000"/>
              </a:lnSpc>
              <a:buNone/>
            </a:pPr>
            <a:r>
              <a:rPr lang="en-US" sz="10000" dirty="0">
                <a:solidFill>
                  <a:srgbClr val="F08A70"/>
                </a:solidFill>
                <a:latin typeface="Instrument Serif" pitchFamily="18" charset="0"/>
                <a:ea typeface="Instrument Serif" pitchFamily="18" charset="-122"/>
                <a:cs typeface="Instrument Serif" pitchFamily="18" charset="-120"/>
              </a:rPr>
              <a:t>+9%</a:t>
            </a:r>
            <a:endParaRPr lang="en-US" sz="10000" dirty="0"/>
          </a:p>
        </p:txBody>
      </p:sp>
      <p:sp>
        <p:nvSpPr>
          <p:cNvPr id="6" name="Text 4"/>
          <p:cNvSpPr/>
          <p:nvPr/>
        </p:nvSpPr>
        <p:spPr>
          <a:xfrm>
            <a:off x="8553697" y="2298671"/>
            <a:ext cx="2825487" cy="421655"/>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B9C2C9"/>
                </a:solidFill>
                <a:latin typeface="Instrument Sans" pitchFamily="34" charset="0"/>
                <a:ea typeface="Instrument Sans" pitchFamily="34" charset="-122"/>
                <a:cs typeface="Instrument Sans" pitchFamily="34" charset="-120"/>
              </a:rPr>
              <a:t>Marketing’s lift, Q1 2026 against Q4 2025</a:t>
            </a:r>
            <a:endParaRPr lang="en-US" sz="1200" dirty="0"/>
          </a:p>
        </p:txBody>
      </p:sp>
      <p:sp>
        <p:nvSpPr>
          <p:cNvPr id="7" name="Shape 5"/>
          <p:cNvSpPr/>
          <p:nvPr/>
        </p:nvSpPr>
        <p:spPr>
          <a:xfrm>
            <a:off x="812767" y="3555993"/>
            <a:ext cx="10566383" cy="6350"/>
          </a:xfrm>
          <a:prstGeom prst="rect">
            <a:avLst/>
          </a:prstGeom>
          <a:solidFill>
            <a:srgbClr val="33424D"/>
          </a:solidFill>
          <a:ln/>
        </p:spPr>
      </p:sp>
      <p:sp>
        <p:nvSpPr>
          <p:cNvPr id="8" name="Text 6"/>
          <p:cNvSpPr/>
          <p:nvPr/>
        </p:nvSpPr>
        <p:spPr>
          <a:xfrm>
            <a:off x="812767" y="3810000"/>
            <a:ext cx="4970773"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98A1"/>
                </a:solidFill>
                <a:latin typeface="Instrument Sans" pitchFamily="34" charset="0"/>
                <a:ea typeface="Instrument Sans" pitchFamily="34" charset="-122"/>
                <a:cs typeface="Instrument Sans" pitchFamily="34" charset="-120"/>
              </a:rPr>
              <a:t>WHAT HAPPENED</a:t>
            </a:r>
            <a:endParaRPr lang="en-US" sz="1200" dirty="0"/>
          </a:p>
        </p:txBody>
      </p:sp>
      <p:sp>
        <p:nvSpPr>
          <p:cNvPr id="9" name="Text 7"/>
          <p:cNvSpPr/>
          <p:nvPr/>
        </p:nvSpPr>
        <p:spPr>
          <a:xfrm>
            <a:off x="812767" y="4099526"/>
            <a:ext cx="4970773" cy="848296"/>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DE4"/>
                </a:solidFill>
                <a:latin typeface="Instrument Sans" pitchFamily="34" charset="0"/>
                <a:ea typeface="Instrument Sans" pitchFamily="34" charset="-122"/>
                <a:cs typeface="Instrument Sans" pitchFamily="34" charset="-120"/>
              </a:rPr>
              <a:t>The ₹150 home-collection fee was waived on every home booking, January to March 2026. Marketing measured +9% and wants the budget doubled.</a:t>
            </a:r>
            <a:endParaRPr lang="en-US" sz="1600" dirty="0"/>
          </a:p>
        </p:txBody>
      </p:sp>
      <p:sp>
        <p:nvSpPr>
          <p:cNvPr id="10" name="Text 8"/>
          <p:cNvSpPr/>
          <p:nvPr/>
        </p:nvSpPr>
        <p:spPr>
          <a:xfrm>
            <a:off x="6095993" y="3810000"/>
            <a:ext cx="5441687"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98A1"/>
                </a:solidFill>
                <a:latin typeface="Instrument Sans" pitchFamily="34" charset="0"/>
                <a:ea typeface="Instrument Sans" pitchFamily="34" charset="-122"/>
                <a:cs typeface="Instrument Sans" pitchFamily="34" charset="-120"/>
              </a:rPr>
              <a:t>WHAT SHE ACTUALLY NEEDS</a:t>
            </a:r>
            <a:endParaRPr lang="en-US" sz="1200" dirty="0"/>
          </a:p>
        </p:txBody>
      </p:sp>
      <p:sp>
        <p:nvSpPr>
          <p:cNvPr id="11" name="Text 9"/>
          <p:cNvSpPr/>
          <p:nvPr/>
        </p:nvSpPr>
        <p:spPr>
          <a:xfrm>
            <a:off x="6095993" y="4099526"/>
            <a:ext cx="5441687" cy="848296"/>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DE4"/>
                </a:solidFill>
                <a:latin typeface="Instrument Sans" pitchFamily="34" charset="0"/>
                <a:ea typeface="Instrument Sans" pitchFamily="34" charset="-122"/>
                <a:cs typeface="Instrument Sans" pitchFamily="34" charset="-120"/>
              </a:rPr>
              <a:t>How many bookings the offer added, not how many it touched; what each one cost; and whether to double, hold or cut.</a:t>
            </a:r>
            <a:endParaRPr lang="en-US" sz="1600" dirty="0"/>
          </a:p>
        </p:txBody>
      </p:sp>
      <p:sp>
        <p:nvSpPr>
          <p:cNvPr id="12" name="Text 10"/>
          <p:cNvSpPr/>
          <p:nvPr/>
        </p:nvSpPr>
        <p:spPr>
          <a:xfrm>
            <a:off x="812767" y="5283191"/>
            <a:ext cx="1511279"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98A1"/>
                </a:solidFill>
                <a:latin typeface="Instrument Sans" pitchFamily="34" charset="0"/>
                <a:ea typeface="Instrument Sans" pitchFamily="34" charset="-122"/>
                <a:cs typeface="Instrument Sans" pitchFamily="34" charset="-120"/>
              </a:rPr>
              <a:t>THE DECISION</a:t>
            </a:r>
            <a:endParaRPr lang="en-US" sz="1200" dirty="0"/>
          </a:p>
        </p:txBody>
      </p:sp>
      <p:sp>
        <p:nvSpPr>
          <p:cNvPr id="13" name="Text 11"/>
          <p:cNvSpPr/>
          <p:nvPr/>
        </p:nvSpPr>
        <p:spPr>
          <a:xfrm>
            <a:off x="2419329" y="5187946"/>
            <a:ext cx="1130279" cy="380144"/>
          </a:xfrm>
          <a:custGeom>
            <a:avLst/>
            <a:gdLst/>
            <a:ahLst/>
            <a:cxnLst/>
            <a:rect l="l" t="t" r="r" b="b"/>
            <a:pathLst>
              <a:path w="1130279" h="380144">
                <a:moveTo>
                  <a:pt x="190072" y="0"/>
                </a:moveTo>
                <a:lnTo>
                  <a:pt x="940207" y="0"/>
                </a:lnTo>
                <a:arcTo hR="190072" wR="190072" stAng="16200000" swAng="5400000"/>
                <a:lnTo>
                  <a:pt x="1130279" y="190072"/>
                </a:lnTo>
                <a:arcTo hR="190072" wR="190072" stAng="0" swAng="5400000"/>
                <a:lnTo>
                  <a:pt x="190072" y="380144"/>
                </a:lnTo>
                <a:arcTo hR="190072" wR="190072" stAng="5400000" swAng="5400000"/>
                <a:lnTo>
                  <a:pt x="0" y="190072"/>
                </a:lnTo>
                <a:arcTo hR="190072" wR="190072" stAng="10800000" swAng="5400000"/>
                <a:close/>
              </a:path>
            </a:pathLst>
          </a:custGeom>
          <a:noFill/>
          <a:ln w="12700">
            <a:solidFill>
              <a:srgbClr val="F1EDE4"/>
            </a:solidFill>
            <a:prstDash val="solid"/>
          </a:ln>
        </p:spPr>
        <p:txBody>
          <a:bodyPr wrap="square" lIns="0" tIns="68174" rIns="0" bIns="42774" rtlCol="0" anchor="t">
            <a:normAutofit/>
          </a:bodyPr>
          <a:lstStyle/>
          <a:p>
            <a:pPr algn="ctr" indent="0" marL="0">
              <a:lnSpc>
                <a:spcPts val="1920"/>
              </a:lnSpc>
              <a:buNone/>
            </a:pPr>
            <a:r>
              <a:rPr lang="en-US" sz="1600" b="1" dirty="0">
                <a:solidFill>
                  <a:srgbClr val="F1EDE4"/>
                </a:solidFill>
                <a:latin typeface="Instrument Sans" pitchFamily="34" charset="0"/>
                <a:ea typeface="Instrument Sans" pitchFamily="34" charset="-122"/>
                <a:cs typeface="Instrument Sans" pitchFamily="34" charset="-120"/>
              </a:rPr>
              <a:t>Double</a:t>
            </a:r>
            <a:endParaRPr lang="en-US" sz="1600" dirty="0"/>
          </a:p>
        </p:txBody>
      </p:sp>
      <p:sp>
        <p:nvSpPr>
          <p:cNvPr id="14" name="Text 12"/>
          <p:cNvSpPr/>
          <p:nvPr/>
        </p:nvSpPr>
        <p:spPr>
          <a:xfrm>
            <a:off x="3689329" y="5187946"/>
            <a:ext cx="939800" cy="380144"/>
          </a:xfrm>
          <a:custGeom>
            <a:avLst/>
            <a:gdLst/>
            <a:ahLst/>
            <a:cxnLst/>
            <a:rect l="l" t="t" r="r" b="b"/>
            <a:pathLst>
              <a:path w="939800" h="380144">
                <a:moveTo>
                  <a:pt x="190072" y="0"/>
                </a:moveTo>
                <a:lnTo>
                  <a:pt x="749728" y="0"/>
                </a:lnTo>
                <a:arcTo hR="190072" wR="190072" stAng="16200000" swAng="5400000"/>
                <a:lnTo>
                  <a:pt x="939800" y="190072"/>
                </a:lnTo>
                <a:arcTo hR="190072" wR="190072" stAng="0" swAng="5400000"/>
                <a:lnTo>
                  <a:pt x="190072" y="380144"/>
                </a:lnTo>
                <a:arcTo hR="190072" wR="190072" stAng="5400000" swAng="5400000"/>
                <a:lnTo>
                  <a:pt x="0" y="190072"/>
                </a:lnTo>
                <a:arcTo hR="190072" wR="190072" stAng="10800000" swAng="5400000"/>
                <a:close/>
              </a:path>
            </a:pathLst>
          </a:custGeom>
          <a:noFill/>
          <a:ln w="12700">
            <a:solidFill>
              <a:srgbClr val="F1EDE4"/>
            </a:solidFill>
            <a:prstDash val="solid"/>
          </a:ln>
        </p:spPr>
        <p:txBody>
          <a:bodyPr wrap="square" lIns="0" tIns="68174" rIns="0" bIns="42774" rtlCol="0" anchor="t">
            <a:normAutofit/>
          </a:bodyPr>
          <a:lstStyle/>
          <a:p>
            <a:pPr algn="ctr" indent="0" marL="0">
              <a:lnSpc>
                <a:spcPts val="1920"/>
              </a:lnSpc>
              <a:buNone/>
            </a:pPr>
            <a:r>
              <a:rPr lang="en-US" sz="1600" b="1" dirty="0">
                <a:solidFill>
                  <a:srgbClr val="F1EDE4"/>
                </a:solidFill>
                <a:latin typeface="Instrument Sans" pitchFamily="34" charset="0"/>
                <a:ea typeface="Instrument Sans" pitchFamily="34" charset="-122"/>
                <a:cs typeface="Instrument Sans" pitchFamily="34" charset="-120"/>
              </a:rPr>
              <a:t>Hold</a:t>
            </a:r>
            <a:endParaRPr lang="en-US" sz="1600" dirty="0"/>
          </a:p>
        </p:txBody>
      </p:sp>
      <p:sp>
        <p:nvSpPr>
          <p:cNvPr id="15" name="Text 13"/>
          <p:cNvSpPr/>
          <p:nvPr/>
        </p:nvSpPr>
        <p:spPr>
          <a:xfrm>
            <a:off x="4768850" y="5187946"/>
            <a:ext cx="812779" cy="380144"/>
          </a:xfrm>
          <a:custGeom>
            <a:avLst/>
            <a:gdLst/>
            <a:ahLst/>
            <a:cxnLst/>
            <a:rect l="l" t="t" r="r" b="b"/>
            <a:pathLst>
              <a:path w="812779" h="380144">
                <a:moveTo>
                  <a:pt x="190072" y="0"/>
                </a:moveTo>
                <a:lnTo>
                  <a:pt x="622707" y="0"/>
                </a:lnTo>
                <a:arcTo hR="190072" wR="190072" stAng="16200000" swAng="5400000"/>
                <a:lnTo>
                  <a:pt x="812779" y="190072"/>
                </a:lnTo>
                <a:arcTo hR="190072" wR="190072" stAng="0" swAng="5400000"/>
                <a:lnTo>
                  <a:pt x="190072" y="380144"/>
                </a:lnTo>
                <a:arcTo hR="190072" wR="190072" stAng="5400000" swAng="5400000"/>
                <a:lnTo>
                  <a:pt x="0" y="190072"/>
                </a:lnTo>
                <a:arcTo hR="190072" wR="190072" stAng="10800000" swAng="5400000"/>
                <a:close/>
              </a:path>
            </a:pathLst>
          </a:custGeom>
          <a:noFill/>
          <a:ln w="12700">
            <a:solidFill>
              <a:srgbClr val="F1EDE4"/>
            </a:solidFill>
            <a:prstDash val="solid"/>
          </a:ln>
        </p:spPr>
        <p:txBody>
          <a:bodyPr wrap="square" lIns="0" tIns="68174" rIns="0" bIns="42774" rtlCol="0" anchor="t">
            <a:normAutofit/>
          </a:bodyPr>
          <a:lstStyle/>
          <a:p>
            <a:pPr algn="ctr" indent="0" marL="0">
              <a:lnSpc>
                <a:spcPts val="1920"/>
              </a:lnSpc>
              <a:buNone/>
            </a:pPr>
            <a:r>
              <a:rPr lang="en-US" sz="1600" b="1" dirty="0">
                <a:solidFill>
                  <a:srgbClr val="F1EDE4"/>
                </a:solidFill>
                <a:latin typeface="Instrument Sans" pitchFamily="34" charset="0"/>
                <a:ea typeface="Instrument Sans" pitchFamily="34" charset="-122"/>
                <a:cs typeface="Instrument Sans" pitchFamily="34" charset="-120"/>
              </a:rPr>
              <a:t>Cut</a:t>
            </a:r>
            <a:endParaRPr lang="en-US" sz="1600" dirty="0"/>
          </a:p>
        </p:txBody>
      </p:sp>
      <p:sp>
        <p:nvSpPr>
          <p:cNvPr id="16" name="Text 14"/>
          <p:cNvSpPr/>
          <p:nvPr/>
        </p:nvSpPr>
        <p:spPr>
          <a:xfrm>
            <a:off x="812767" y="6238241"/>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1"/>
                </a:solidFill>
                <a:latin typeface="Instrument Sans" pitchFamily="34" charset="0"/>
                <a:ea typeface="Instrument Sans" pitchFamily="34" charset="-122"/>
                <a:cs typeface="Instrument Sans" pitchFamily="34" charset="-120"/>
              </a:rPr>
              <a:t>Kalpa Health · Brief E · The offer</a:t>
            </a:r>
            <a:endParaRPr lang="en-US" sz="1200" dirty="0"/>
          </a:p>
        </p:txBody>
      </p:sp>
      <p:sp>
        <p:nvSpPr>
          <p:cNvPr id="17" name="Shape 15"/>
          <p:cNvSpPr/>
          <p:nvPr/>
        </p:nvSpPr>
        <p:spPr>
          <a:xfrm>
            <a:off x="8991595" y="6337287"/>
            <a:ext cx="2387589" cy="38068"/>
          </a:xfrm>
          <a:prstGeom prst="rect">
            <a:avLst/>
          </a:prstGeom>
          <a:gradFill rotWithShape="1">
            <a:gsLst>
              <a:gs pos="0">
                <a:srgbClr val="F1EDE4">
                  <a:alpha val="18000"/>
                </a:srgbClr>
              </a:gs>
              <a:gs pos="87500">
                <a:srgbClr val="F1EDE4">
                  <a:alpha val="18000"/>
                </a:srgbClr>
              </a:gs>
              <a:gs pos="87500">
                <a:srgbClr val="F1EDE4">
                  <a:alpha val="0"/>
                </a:srgbClr>
              </a:gs>
              <a:gs pos="100000">
                <a:srgbClr val="000000">
                  <a:alpha val="0"/>
                </a:srgbClr>
              </a:gs>
            </a:gsLst>
            <a:lin ang="0" scaled="0"/>
          </a:gradFill>
          <a:ln/>
        </p:spPr>
      </p:sp>
      <p:sp>
        <p:nvSpPr>
          <p:cNvPr id="18" name="Shape 16"/>
          <p:cNvSpPr/>
          <p:nvPr/>
        </p:nvSpPr>
        <p:spPr>
          <a:xfrm>
            <a:off x="8991595" y="6337287"/>
            <a:ext cx="355568" cy="38068"/>
          </a:xfrm>
          <a:prstGeom prst="roundRect">
            <a:avLst>
              <a:gd name="adj" fmla="val 50000"/>
            </a:avLst>
          </a:prstGeom>
          <a:solidFill>
            <a:srgbClr val="E3A33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67" y="81276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02 · THE PICTURE</a:t>
            </a:r>
            <a:endParaRPr lang="en-US" sz="1200" dirty="0"/>
          </a:p>
        </p:txBody>
      </p:sp>
      <p:sp>
        <p:nvSpPr>
          <p:cNvPr id="3" name="Text 1"/>
          <p:cNvSpPr/>
          <p:nvPr>
            <p:ph type="title"/>
          </p:nvPr>
        </p:nvSpPr>
        <p:spPr>
          <a:xfrm>
            <a:off x="812767" y="1127717"/>
            <a:ext cx="10883445" cy="558804"/>
          </a:xfrm>
          <a:prstGeom prst="rect">
            <a:avLst/>
          </a:prstGeom>
          <a:noFill/>
          <a:ln/>
        </p:spPr>
        <p:txBody>
          <a:bodyPr wrap="square" lIns="0" tIns="0" rIns="0" bIns="0" rtlCol="0" anchor="t">
            <a:normAutofit/>
          </a:bodyPr>
          <a:lstStyle/>
          <a:p>
            <a:pPr algn="l" indent="0" marL="0">
              <a:lnSpc>
                <a:spcPts val="4200"/>
              </a:lnSpc>
              <a:buNone/>
            </a:pPr>
            <a:r>
              <a:rPr lang="en-US" sz="4000" b="0" i="0" spc="-50" kern="0" dirty="0">
                <a:solidFill>
                  <a:srgbClr val="17222A"/>
                </a:solidFill>
                <a:latin typeface="Instrument Serif" pitchFamily="18" charset="0"/>
                <a:ea typeface="Instrument Serif" pitchFamily="18" charset="-122"/>
                <a:cs typeface="Instrument Serif" pitchFamily="18" charset="-120"/>
              </a:rPr>
              <a:t>From marketing’s +9% to the offer’s share</a:t>
            </a:r>
            <a:endParaRPr lang="en-US" sz="4000" dirty="0"/>
          </a:p>
        </p:txBody>
      </p:sp>
      <p:sp>
        <p:nvSpPr>
          <p:cNvPr id="4" name="Shape 2"/>
          <p:cNvSpPr/>
          <p:nvPr/>
        </p:nvSpPr>
        <p:spPr>
          <a:xfrm>
            <a:off x="815942" y="2035161"/>
            <a:ext cx="3154251" cy="1771629"/>
          </a:xfrm>
          <a:prstGeom prst="roundRect">
            <a:avLst>
              <a:gd name="adj" fmla="val 6989"/>
            </a:avLst>
          </a:prstGeom>
          <a:solidFill>
            <a:srgbClr val="FBFAF6"/>
          </a:solidFill>
          <a:ln w="6350">
            <a:solidFill>
              <a:srgbClr val="D9D2C3"/>
            </a:solidFill>
            <a:prstDash val="solid"/>
          </a:ln>
        </p:spPr>
      </p:sp>
      <p:sp>
        <p:nvSpPr>
          <p:cNvPr id="5" name="Text 3"/>
          <p:cNvSpPr/>
          <p:nvPr/>
        </p:nvSpPr>
        <p:spPr>
          <a:xfrm>
            <a:off x="994944" y="2214163"/>
            <a:ext cx="279397" cy="279397"/>
          </a:xfrm>
          <a:custGeom>
            <a:avLst/>
            <a:gdLst/>
            <a:ahLst/>
            <a:cxnLst/>
            <a:rect l="l" t="t" r="r" b="b"/>
            <a:pathLst>
              <a:path w="279397" h="279397">
                <a:moveTo>
                  <a:pt x="139699" y="0"/>
                </a:moveTo>
                <a:lnTo>
                  <a:pt x="139699" y="0"/>
                </a:lnTo>
                <a:arcTo hR="139699" wR="139699" stAng="16200000" swAng="5400000"/>
                <a:lnTo>
                  <a:pt x="279397" y="139699"/>
                </a:lnTo>
                <a:arcTo hR="139699" wR="139699" stAng="0" swAng="5400000"/>
                <a:lnTo>
                  <a:pt x="139699" y="279397"/>
                </a:lnTo>
                <a:arcTo hR="139699" wR="139699" stAng="5400000" swAng="5400000"/>
                <a:lnTo>
                  <a:pt x="0" y="139699"/>
                </a:lnTo>
                <a:arcTo hR="139699" wR="139699" stAng="10800000" swAng="5400000"/>
                <a:close/>
              </a:path>
            </a:pathLst>
          </a:custGeom>
          <a:solidFill>
            <a:srgbClr val="17222A"/>
          </a:solidFill>
          <a:ln/>
        </p:spPr>
        <p:txBody>
          <a:bodyPr wrap="square" lIns="0" tIns="0" rIns="0" bIns="0" rtlCol="0" anchor="t">
            <a:normAutofit/>
          </a:bodyPr>
          <a:lstStyle/>
          <a:p>
            <a:pPr algn="ctr" indent="0" marL="0">
              <a:lnSpc>
                <a:spcPts val="2196"/>
              </a:lnSpc>
              <a:buNone/>
            </a:pPr>
            <a:r>
              <a:rPr lang="en-US" sz="1200" b="1" dirty="0">
                <a:solidFill>
                  <a:srgbClr val="F6F3EC"/>
                </a:solidFill>
                <a:latin typeface="Instrument Sans" pitchFamily="34" charset="0"/>
                <a:ea typeface="Instrument Sans" pitchFamily="34" charset="-122"/>
                <a:cs typeface="Instrument Sans" pitchFamily="34" charset="-120"/>
              </a:rPr>
              <a:t>1</a:t>
            </a:r>
            <a:endParaRPr lang="en-US" sz="1200" dirty="0"/>
          </a:p>
        </p:txBody>
      </p:sp>
      <p:sp>
        <p:nvSpPr>
          <p:cNvPr id="6" name="Text 4"/>
          <p:cNvSpPr/>
          <p:nvPr/>
        </p:nvSpPr>
        <p:spPr>
          <a:xfrm>
            <a:off x="1350512" y="2247167"/>
            <a:ext cx="2436801"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A"/>
                </a:solidFill>
                <a:latin typeface="Instrument Sans" pitchFamily="34" charset="0"/>
                <a:ea typeface="Instrument Sans" pitchFamily="34" charset="-122"/>
                <a:cs typeface="Instrument Sans" pitchFamily="34" charset="-120"/>
              </a:rPr>
              <a:t>Marketing’s count</a:t>
            </a:r>
            <a:endParaRPr lang="en-US" sz="1200" dirty="0"/>
          </a:p>
        </p:txBody>
      </p:sp>
      <p:sp>
        <p:nvSpPr>
          <p:cNvPr id="7" name="Text 5"/>
          <p:cNvSpPr/>
          <p:nvPr/>
        </p:nvSpPr>
        <p:spPr>
          <a:xfrm>
            <a:off x="994944" y="2569731"/>
            <a:ext cx="2792369" cy="332737"/>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222A"/>
                </a:solidFill>
                <a:latin typeface="Instrument Sans" pitchFamily="34" charset="0"/>
                <a:ea typeface="Instrument Sans" pitchFamily="34" charset="-122"/>
                <a:cs typeface="Instrument Sans" pitchFamily="34" charset="-120"/>
              </a:rPr>
              <a:t>+9%</a:t>
            </a:r>
            <a:endParaRPr lang="en-US" sz="2200" dirty="0"/>
          </a:p>
        </p:txBody>
      </p:sp>
      <p:sp>
        <p:nvSpPr>
          <p:cNvPr id="8" name="Text 6"/>
          <p:cNvSpPr/>
          <p:nvPr/>
        </p:nvSpPr>
        <p:spPr>
          <a:xfrm>
            <a:off x="994944" y="2953239"/>
            <a:ext cx="2792369" cy="64262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5C"/>
                </a:solidFill>
                <a:latin typeface="Instrument Sans" pitchFamily="34" charset="0"/>
                <a:ea typeface="Instrument Sans" pitchFamily="34" charset="-122"/>
                <a:cs typeface="Instrument Sans" pitchFamily="34" charset="-120"/>
              </a:rPr>
              <a:t>Five cities: 69,968 → 76,204. Bengaluru’s spelling changed, so it drops out.</a:t>
            </a:r>
            <a:endParaRPr lang="en-US" sz="1200" dirty="0"/>
          </a:p>
        </p:txBody>
      </p:sp>
      <p:cxnSp>
        <p:nvCxnSpPr>
          <p:cNvPr id="41" name="Arrow 1 to 2"/>
          <p:cNvCxnSpPr/>
          <p:nvPr/>
        </p:nvCxnSpPr>
        <p:spPr>
          <a:xfrm>
            <a:off x="4015913" y="2920975"/>
            <a:ext cx="457200" cy="0"/>
          </a:xfrm>
          <a:prstGeom prst="straightConnector1">
            <a:avLst/>
          </a:prstGeom>
          <a:ln w="15875">
            <a:solidFill>
              <a:srgbClr val="5E6973"/>
            </a:solidFill>
            <a:tailEnd type="triangle" w="med" len="med"/>
          </a:ln>
        </p:spPr>
      </p:cxnSp>
      <p:sp>
        <p:nvSpPr>
          <p:cNvPr id="10" name="Shape 7"/>
          <p:cNvSpPr/>
          <p:nvPr/>
        </p:nvSpPr>
        <p:spPr>
          <a:xfrm>
            <a:off x="4518833" y="2035161"/>
            <a:ext cx="3154251" cy="1771629"/>
          </a:xfrm>
          <a:prstGeom prst="roundRect">
            <a:avLst>
              <a:gd name="adj" fmla="val 6989"/>
            </a:avLst>
          </a:prstGeom>
          <a:solidFill>
            <a:srgbClr val="FBFAF6"/>
          </a:solidFill>
          <a:ln w="6350">
            <a:solidFill>
              <a:srgbClr val="D9D2C3"/>
            </a:solidFill>
            <a:prstDash val="solid"/>
          </a:ln>
        </p:spPr>
      </p:sp>
      <p:sp>
        <p:nvSpPr>
          <p:cNvPr id="11" name="Text 8"/>
          <p:cNvSpPr/>
          <p:nvPr/>
        </p:nvSpPr>
        <p:spPr>
          <a:xfrm>
            <a:off x="4697835" y="2214163"/>
            <a:ext cx="279397" cy="279397"/>
          </a:xfrm>
          <a:custGeom>
            <a:avLst/>
            <a:gdLst/>
            <a:ahLst/>
            <a:cxnLst/>
            <a:rect l="l" t="t" r="r" b="b"/>
            <a:pathLst>
              <a:path w="279397" h="279397">
                <a:moveTo>
                  <a:pt x="139699" y="0"/>
                </a:moveTo>
                <a:lnTo>
                  <a:pt x="139699" y="0"/>
                </a:lnTo>
                <a:arcTo hR="139699" wR="139699" stAng="16200000" swAng="5400000"/>
                <a:lnTo>
                  <a:pt x="279397" y="139699"/>
                </a:lnTo>
                <a:arcTo hR="139699" wR="139699" stAng="0" swAng="5400000"/>
                <a:lnTo>
                  <a:pt x="139699" y="279397"/>
                </a:lnTo>
                <a:arcTo hR="139699" wR="139699" stAng="5400000" swAng="5400000"/>
                <a:lnTo>
                  <a:pt x="0" y="139699"/>
                </a:lnTo>
                <a:arcTo hR="139699" wR="139699" stAng="10800000" swAng="5400000"/>
                <a:close/>
              </a:path>
            </a:pathLst>
          </a:custGeom>
          <a:solidFill>
            <a:srgbClr val="17222A"/>
          </a:solidFill>
          <a:ln/>
        </p:spPr>
        <p:txBody>
          <a:bodyPr wrap="square" lIns="0" tIns="0" rIns="0" bIns="0" rtlCol="0" anchor="t">
            <a:normAutofit/>
          </a:bodyPr>
          <a:lstStyle/>
          <a:p>
            <a:pPr algn="ctr" indent="0" marL="0">
              <a:lnSpc>
                <a:spcPts val="2196"/>
              </a:lnSpc>
              <a:buNone/>
            </a:pPr>
            <a:r>
              <a:rPr lang="en-US" sz="1200" b="1" dirty="0">
                <a:solidFill>
                  <a:srgbClr val="F6F3EC"/>
                </a:solidFill>
                <a:latin typeface="Instrument Sans" pitchFamily="34" charset="0"/>
                <a:ea typeface="Instrument Sans" pitchFamily="34" charset="-122"/>
                <a:cs typeface="Instrument Sans" pitchFamily="34" charset="-120"/>
              </a:rPr>
              <a:t>2</a:t>
            </a:r>
            <a:endParaRPr lang="en-US" sz="1200" dirty="0"/>
          </a:p>
        </p:txBody>
      </p:sp>
      <p:sp>
        <p:nvSpPr>
          <p:cNvPr id="12" name="Text 9"/>
          <p:cNvSpPr/>
          <p:nvPr/>
        </p:nvSpPr>
        <p:spPr>
          <a:xfrm>
            <a:off x="5053403" y="2247167"/>
            <a:ext cx="2436801"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A"/>
                </a:solidFill>
                <a:latin typeface="Instrument Sans" pitchFamily="34" charset="0"/>
                <a:ea typeface="Instrument Sans" pitchFamily="34" charset="-122"/>
                <a:cs typeface="Instrument Sans" pitchFamily="34" charset="-120"/>
              </a:rPr>
              <a:t>Recount, six cities</a:t>
            </a:r>
            <a:endParaRPr lang="en-US" sz="1200" dirty="0"/>
          </a:p>
        </p:txBody>
      </p:sp>
      <p:sp>
        <p:nvSpPr>
          <p:cNvPr id="13" name="Text 10"/>
          <p:cNvSpPr/>
          <p:nvPr/>
        </p:nvSpPr>
        <p:spPr>
          <a:xfrm>
            <a:off x="4697835" y="2569731"/>
            <a:ext cx="2792369" cy="332737"/>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222A"/>
                </a:solidFill>
                <a:latin typeface="Instrument Sans" pitchFamily="34" charset="0"/>
                <a:ea typeface="Instrument Sans" pitchFamily="34" charset="-122"/>
                <a:cs typeface="Instrument Sans" pitchFamily="34" charset="-120"/>
              </a:rPr>
              <a:t>+9,947</a:t>
            </a:r>
            <a:endParaRPr lang="en-US" sz="2200" dirty="0"/>
          </a:p>
        </p:txBody>
      </p:sp>
      <p:sp>
        <p:nvSpPr>
          <p:cNvPr id="14" name="Text 11"/>
          <p:cNvSpPr/>
          <p:nvPr/>
        </p:nvSpPr>
        <p:spPr>
          <a:xfrm>
            <a:off x="4697835" y="2953239"/>
            <a:ext cx="2792369" cy="64262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5C"/>
                </a:solidFill>
                <a:latin typeface="Instrument Sans" pitchFamily="34" charset="0"/>
                <a:ea typeface="Instrument Sans" pitchFamily="34" charset="-122"/>
                <a:cs typeface="Instrument Sans" pitchFamily="34" charset="-120"/>
              </a:rPr>
              <a:t>89,674 → 99,621 bookings, Q4 2025 to Q1 2026 (+11.1%).</a:t>
            </a:r>
            <a:endParaRPr lang="en-US" sz="1200" dirty="0"/>
          </a:p>
        </p:txBody>
      </p:sp>
      <p:cxnSp>
        <p:nvCxnSpPr>
          <p:cNvPr id="42" name="Arrow 2 to 3"/>
          <p:cNvCxnSpPr/>
          <p:nvPr/>
        </p:nvCxnSpPr>
        <p:spPr>
          <a:xfrm>
            <a:off x="7718804" y="2920975"/>
            <a:ext cx="457200" cy="0"/>
          </a:xfrm>
          <a:prstGeom prst="straightConnector1">
            <a:avLst/>
          </a:prstGeom>
          <a:ln w="15875">
            <a:solidFill>
              <a:srgbClr val="5E6973"/>
            </a:solidFill>
            <a:tailEnd type="triangle" w="med" len="med"/>
          </a:ln>
        </p:spPr>
      </p:cxnSp>
      <p:sp>
        <p:nvSpPr>
          <p:cNvPr id="16" name="Shape 12"/>
          <p:cNvSpPr/>
          <p:nvPr/>
        </p:nvSpPr>
        <p:spPr>
          <a:xfrm>
            <a:off x="8221724" y="2038336"/>
            <a:ext cx="3154251" cy="1765279"/>
          </a:xfrm>
          <a:prstGeom prst="roundRect">
            <a:avLst>
              <a:gd name="adj" fmla="val 6835"/>
            </a:avLst>
          </a:prstGeom>
          <a:solidFill>
            <a:srgbClr val="FBF0EA"/>
          </a:solidFill>
          <a:ln w="12700">
            <a:solidFill>
              <a:srgbClr val="B8432C"/>
            </a:solidFill>
            <a:prstDash val="solid"/>
          </a:ln>
        </p:spPr>
      </p:sp>
      <p:sp>
        <p:nvSpPr>
          <p:cNvPr id="17" name="Text 13"/>
          <p:cNvSpPr/>
          <p:nvPr/>
        </p:nvSpPr>
        <p:spPr>
          <a:xfrm>
            <a:off x="8404166" y="2220778"/>
            <a:ext cx="279397" cy="279397"/>
          </a:xfrm>
          <a:custGeom>
            <a:avLst/>
            <a:gdLst/>
            <a:ahLst/>
            <a:cxnLst/>
            <a:rect l="l" t="t" r="r" b="b"/>
            <a:pathLst>
              <a:path w="279397" h="279397">
                <a:moveTo>
                  <a:pt x="139699" y="0"/>
                </a:moveTo>
                <a:lnTo>
                  <a:pt x="139699" y="0"/>
                </a:lnTo>
                <a:arcTo hR="139699" wR="139699" stAng="16200000" swAng="5400000"/>
                <a:lnTo>
                  <a:pt x="279397" y="139699"/>
                </a:lnTo>
                <a:arcTo hR="139699" wR="139699" stAng="0" swAng="5400000"/>
                <a:lnTo>
                  <a:pt x="139699" y="279397"/>
                </a:lnTo>
                <a:arcTo hR="139699" wR="139699" stAng="5400000" swAng="5400000"/>
                <a:lnTo>
                  <a:pt x="0" y="139699"/>
                </a:lnTo>
                <a:arcTo hR="139699" wR="139699" stAng="10800000" swAng="5400000"/>
                <a:close/>
              </a:path>
            </a:pathLst>
          </a:custGeom>
          <a:solidFill>
            <a:srgbClr val="B8432C"/>
          </a:solidFill>
          <a:ln/>
        </p:spPr>
        <p:txBody>
          <a:bodyPr wrap="square" lIns="0" tIns="0" rIns="0" bIns="0" rtlCol="0" anchor="t">
            <a:normAutofit/>
          </a:bodyPr>
          <a:lstStyle/>
          <a:p>
            <a:pPr algn="ctr" indent="0" marL="0">
              <a:lnSpc>
                <a:spcPts val="2196"/>
              </a:lnSpc>
              <a:buNone/>
            </a:pPr>
            <a:r>
              <a:rPr lang="en-US" sz="1200" b="1" dirty="0">
                <a:solidFill>
                  <a:srgbClr val="F6F3EC"/>
                </a:solidFill>
                <a:latin typeface="Instrument Sans" pitchFamily="34" charset="0"/>
                <a:ea typeface="Instrument Sans" pitchFamily="34" charset="-122"/>
                <a:cs typeface="Instrument Sans" pitchFamily="34" charset="-120"/>
              </a:rPr>
              <a:t>3</a:t>
            </a:r>
            <a:endParaRPr lang="en-US" sz="1200" dirty="0"/>
          </a:p>
        </p:txBody>
      </p:sp>
      <p:sp>
        <p:nvSpPr>
          <p:cNvPr id="18" name="Text 14"/>
          <p:cNvSpPr/>
          <p:nvPr/>
        </p:nvSpPr>
        <p:spPr>
          <a:xfrm>
            <a:off x="8759734" y="2253781"/>
            <a:ext cx="2433361"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A"/>
                </a:solidFill>
                <a:latin typeface="Instrument Sans" pitchFamily="34" charset="0"/>
                <a:ea typeface="Instrument Sans" pitchFamily="34" charset="-122"/>
                <a:cs typeface="Instrument Sans" pitchFamily="34" charset="-120"/>
              </a:rPr>
              <a:t>Same quarter, 2025</a:t>
            </a:r>
            <a:endParaRPr lang="en-US" sz="1200" dirty="0"/>
          </a:p>
        </p:txBody>
      </p:sp>
      <p:sp>
        <p:nvSpPr>
          <p:cNvPr id="19" name="Text 15"/>
          <p:cNvSpPr/>
          <p:nvPr/>
        </p:nvSpPr>
        <p:spPr>
          <a:xfrm>
            <a:off x="8404166" y="2957304"/>
            <a:ext cx="2788929" cy="64262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5C"/>
                </a:solidFill>
                <a:latin typeface="Instrument Sans" pitchFamily="34" charset="0"/>
                <a:ea typeface="Instrument Sans" pitchFamily="34" charset="-122"/>
                <a:cs typeface="Instrument Sans" pitchFamily="34" charset="-120"/>
              </a:rPr>
              <a:t>Against Q1 2025 (96,122). The other 6,448 is the season.</a:t>
            </a:r>
            <a:endParaRPr lang="en-US" sz="1200" dirty="0"/>
          </a:p>
        </p:txBody>
      </p:sp>
      <p:sp>
        <p:nvSpPr>
          <p:cNvPr id="20" name="Text 16"/>
          <p:cNvSpPr/>
          <p:nvPr/>
        </p:nvSpPr>
        <p:spPr>
          <a:xfrm>
            <a:off x="8405888" y="2578068"/>
            <a:ext cx="2787207" cy="332737"/>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B8432C"/>
                </a:solidFill>
                <a:latin typeface="Instrument Sans" pitchFamily="34" charset="0"/>
                <a:ea typeface="Instrument Sans" pitchFamily="34" charset="-122"/>
                <a:cs typeface="Instrument Sans" pitchFamily="34" charset="-120"/>
              </a:rPr>
              <a:t>+3,499</a:t>
            </a:r>
            <a:endParaRPr lang="en-US" sz="2200" dirty="0"/>
          </a:p>
        </p:txBody>
      </p:sp>
      <p:cxnSp>
        <p:nvCxnSpPr>
          <p:cNvPr id="43" name="Arrow 3 to row 4"/>
          <p:cNvCxnSpPr/>
          <p:nvPr/>
        </p:nvCxnSpPr>
        <p:spPr>
          <a:xfrm>
            <a:off x="11001360" y="3849335"/>
            <a:ext cx="0" cy="626116"/>
          </a:xfrm>
          <a:prstGeom prst="straightConnector1">
            <a:avLst/>
          </a:prstGeom>
          <a:ln w="15875">
            <a:solidFill>
              <a:srgbClr val="5E6973"/>
            </a:solidFill>
            <a:tailEnd type="triangle" w="med" len="med"/>
          </a:ln>
        </p:spPr>
      </p:cxnSp>
      <p:sp>
        <p:nvSpPr>
          <p:cNvPr id="27" name="Text 22"/>
          <p:cNvSpPr/>
          <p:nvPr/>
        </p:nvSpPr>
        <p:spPr>
          <a:xfrm>
            <a:off x="812767" y="4114788"/>
            <a:ext cx="279397" cy="279397"/>
          </a:xfrm>
          <a:custGeom>
            <a:avLst/>
            <a:gdLst/>
            <a:ahLst/>
            <a:cxnLst/>
            <a:rect l="l" t="t" r="r" b="b"/>
            <a:pathLst>
              <a:path w="279397" h="279397">
                <a:moveTo>
                  <a:pt x="139699" y="0"/>
                </a:moveTo>
                <a:lnTo>
                  <a:pt x="139699" y="0"/>
                </a:lnTo>
                <a:arcTo hR="139699" wR="139699" stAng="16200000" swAng="5400000"/>
                <a:lnTo>
                  <a:pt x="279397" y="139699"/>
                </a:lnTo>
                <a:arcTo hR="139699" wR="139699" stAng="0" swAng="5400000"/>
                <a:lnTo>
                  <a:pt x="139699" y="279397"/>
                </a:lnTo>
                <a:arcTo hR="139699" wR="139699" stAng="5400000" swAng="5400000"/>
                <a:lnTo>
                  <a:pt x="0" y="139699"/>
                </a:lnTo>
                <a:arcTo hR="139699" wR="139699" stAng="10800000" swAng="5400000"/>
                <a:close/>
              </a:path>
            </a:pathLst>
          </a:custGeom>
          <a:solidFill>
            <a:srgbClr val="17222A"/>
          </a:solidFill>
          <a:ln/>
        </p:spPr>
        <p:txBody>
          <a:bodyPr wrap="square" lIns="0" tIns="0" rIns="0" bIns="0" rtlCol="0" anchor="t">
            <a:normAutofit/>
          </a:bodyPr>
          <a:lstStyle/>
          <a:p>
            <a:pPr algn="ctr" indent="0" marL="0">
              <a:lnSpc>
                <a:spcPts val="2196"/>
              </a:lnSpc>
              <a:buNone/>
            </a:pPr>
            <a:r>
              <a:rPr lang="en-US" sz="1200" b="1" dirty="0">
                <a:solidFill>
                  <a:srgbClr val="F6F3EC"/>
                </a:solidFill>
                <a:latin typeface="Instrument Sans" pitchFamily="34" charset="0"/>
                <a:ea typeface="Instrument Sans" pitchFamily="34" charset="-122"/>
                <a:cs typeface="Instrument Sans" pitchFamily="34" charset="-120"/>
              </a:rPr>
              <a:t>4</a:t>
            </a:r>
            <a:endParaRPr lang="en-US" sz="1200" dirty="0"/>
          </a:p>
        </p:txBody>
      </p:sp>
      <p:sp>
        <p:nvSpPr>
          <p:cNvPr id="28" name="Text 23"/>
          <p:cNvSpPr/>
          <p:nvPr/>
        </p:nvSpPr>
        <p:spPr>
          <a:xfrm>
            <a:off x="1168335" y="4147792"/>
            <a:ext cx="5246481"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A"/>
                </a:solidFill>
                <a:latin typeface="Instrument Sans" pitchFamily="34" charset="0"/>
                <a:ea typeface="Instrument Sans" pitchFamily="34" charset="-122"/>
                <a:cs typeface="Instrument Sans" pitchFamily="34" charset="-120"/>
              </a:rPr>
              <a:t>Inside the 48,869 free home bookings, January to March 2026</a:t>
            </a:r>
            <a:endParaRPr lang="en-US" sz="1200" dirty="0"/>
          </a:p>
        </p:txBody>
      </p:sp>
      <p:sp>
        <p:nvSpPr>
          <p:cNvPr id="29" name="Shape 24"/>
          <p:cNvSpPr/>
          <p:nvPr/>
        </p:nvSpPr>
        <p:spPr>
          <a:xfrm>
            <a:off x="812767" y="4521171"/>
            <a:ext cx="7099274" cy="406383"/>
          </a:xfrm>
          <a:custGeom>
            <a:avLst/>
            <a:gdLst/>
            <a:ahLst/>
            <a:cxnLst/>
            <a:rect l="l" t="t" r="r" b="b"/>
            <a:pathLst>
              <a:path w="7099274" h="406383">
                <a:moveTo>
                  <a:pt x="76200" y="0"/>
                </a:moveTo>
                <a:lnTo>
                  <a:pt x="7099274" y="0"/>
                </a:lnTo>
                <a:lnTo>
                  <a:pt x="7099274" y="406383"/>
                </a:lnTo>
                <a:lnTo>
                  <a:pt x="76200" y="406383"/>
                </a:lnTo>
                <a:arcTo hR="76200" wR="76200" stAng="5400000" swAng="5400000"/>
                <a:lnTo>
                  <a:pt x="0" y="76200"/>
                </a:lnTo>
                <a:arcTo hR="76200" wR="76200" stAng="10800000" swAng="5400000"/>
                <a:close/>
              </a:path>
            </a:pathLst>
          </a:custGeom>
          <a:solidFill>
            <a:srgbClr val="D08A1E"/>
          </a:solidFill>
          <a:ln/>
        </p:spPr>
      </p:sp>
      <p:sp>
        <p:nvSpPr>
          <p:cNvPr id="30" name="Shape 25"/>
          <p:cNvSpPr/>
          <p:nvPr/>
        </p:nvSpPr>
        <p:spPr>
          <a:xfrm>
            <a:off x="7912075" y="4521171"/>
            <a:ext cx="2711428" cy="406383"/>
          </a:xfrm>
          <a:prstGeom prst="rect">
            <a:avLst/>
          </a:prstGeom>
          <a:solidFill>
            <a:srgbClr val="9DBBDD"/>
          </a:solidFill>
          <a:ln/>
        </p:spPr>
      </p:sp>
      <p:sp>
        <p:nvSpPr>
          <p:cNvPr id="31" name="Shape 26"/>
          <p:cNvSpPr/>
          <p:nvPr/>
        </p:nvSpPr>
        <p:spPr>
          <a:xfrm>
            <a:off x="10623537" y="4521171"/>
            <a:ext cx="755647" cy="406383"/>
          </a:xfrm>
          <a:custGeom>
            <a:avLst/>
            <a:gdLst/>
            <a:ahLst/>
            <a:cxnLst/>
            <a:rect l="l" t="t" r="r" b="b"/>
            <a:pathLst>
              <a:path w="755647" h="406383">
                <a:moveTo>
                  <a:pt x="0" y="0"/>
                </a:moveTo>
                <a:lnTo>
                  <a:pt x="679447" y="0"/>
                </a:lnTo>
                <a:arcTo hR="76200" wR="76200" stAng="16200000" swAng="5400000"/>
                <a:lnTo>
                  <a:pt x="755647" y="330183"/>
                </a:lnTo>
                <a:arcTo hR="76200" wR="76200" stAng="0" swAng="5400000"/>
                <a:lnTo>
                  <a:pt x="0" y="406383"/>
                </a:lnTo>
                <a:lnTo>
                  <a:pt x="0" y="0"/>
                </a:lnTo>
                <a:close/>
              </a:path>
            </a:pathLst>
          </a:custGeom>
          <a:solidFill>
            <a:srgbClr val="B8432C"/>
          </a:solidFill>
          <a:ln/>
        </p:spPr>
      </p:sp>
      <p:sp>
        <p:nvSpPr>
          <p:cNvPr id="32" name="Text 27"/>
          <p:cNvSpPr/>
          <p:nvPr/>
        </p:nvSpPr>
        <p:spPr>
          <a:xfrm>
            <a:off x="812767" y="5029184"/>
            <a:ext cx="7063718"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A"/>
                </a:solidFill>
                <a:latin typeface="Instrument Sans" pitchFamily="34" charset="0"/>
                <a:ea typeface="Instrument Sans" pitchFamily="34" charset="-122"/>
                <a:cs typeface="Instrument Sans" pitchFamily="34" charset="-120"/>
              </a:rPr>
              <a:t>32,816</a:t>
            </a:r>
            <a:r>
              <a:rPr lang="en-US" sz="1200" dirty="0">
                <a:solidFill>
                  <a:srgbClr val="17222A"/>
                </a:solidFill>
                <a:latin typeface="Instrument Sans" pitchFamily="34" charset="0"/>
                <a:ea typeface="Instrument Sans" pitchFamily="34" charset="-122"/>
                <a:cs typeface="Instrument Sans" pitchFamily="34" charset="-120"/>
              </a:rPr>
              <a:t> would have paid the ₹150 fee anyway</a:t>
            </a:r>
            <a:endParaRPr lang="en-US" sz="1200" dirty="0"/>
          </a:p>
        </p:txBody>
      </p:sp>
      <p:sp>
        <p:nvSpPr>
          <p:cNvPr id="33" name="Text 28"/>
          <p:cNvSpPr/>
          <p:nvPr/>
        </p:nvSpPr>
        <p:spPr>
          <a:xfrm>
            <a:off x="812767" y="5245089"/>
            <a:ext cx="706371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Q1 2025 already had 32,816 paid home bookings</a:t>
            </a:r>
            <a:endParaRPr lang="en-US" sz="1200" dirty="0"/>
          </a:p>
        </p:txBody>
      </p:sp>
      <p:sp>
        <p:nvSpPr>
          <p:cNvPr id="34" name="Text 29"/>
          <p:cNvSpPr/>
          <p:nvPr/>
        </p:nvSpPr>
        <p:spPr>
          <a:xfrm>
            <a:off x="7912075" y="5029184"/>
            <a:ext cx="2223741"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A"/>
                </a:solidFill>
                <a:latin typeface="Instrument Sans" pitchFamily="34" charset="0"/>
                <a:ea typeface="Instrument Sans" pitchFamily="34" charset="-122"/>
                <a:cs typeface="Instrument Sans" pitchFamily="34" charset="-120"/>
              </a:rPr>
              <a:t>12,554</a:t>
            </a:r>
            <a:r>
              <a:rPr lang="en-US" sz="1200" dirty="0">
                <a:solidFill>
                  <a:srgbClr val="17222A"/>
                </a:solidFill>
                <a:latin typeface="Instrument Sans" pitchFamily="34" charset="0"/>
                <a:ea typeface="Instrument Sans" pitchFamily="34" charset="-122"/>
                <a:cs typeface="Instrument Sans" pitchFamily="34" charset="-120"/>
              </a:rPr>
              <a:t> moved from a clinic</a:t>
            </a:r>
            <a:endParaRPr lang="en-US" sz="1200" dirty="0"/>
          </a:p>
        </p:txBody>
      </p:sp>
      <p:sp>
        <p:nvSpPr>
          <p:cNvPr id="35" name="Text 30"/>
          <p:cNvSpPr/>
          <p:nvPr/>
        </p:nvSpPr>
        <p:spPr>
          <a:xfrm>
            <a:off x="7912075" y="5245089"/>
            <a:ext cx="222374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clinic: 63,306 → 50,752</a:t>
            </a:r>
            <a:endParaRPr lang="en-US" sz="1200" dirty="0"/>
          </a:p>
        </p:txBody>
      </p:sp>
      <p:sp>
        <p:nvSpPr>
          <p:cNvPr id="36" name="Text 31"/>
          <p:cNvSpPr/>
          <p:nvPr/>
        </p:nvSpPr>
        <p:spPr>
          <a:xfrm>
            <a:off x="10109200" y="5029184"/>
            <a:ext cx="1269985" cy="238755"/>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8432C"/>
                </a:solidFill>
                <a:latin typeface="Instrument Sans" pitchFamily="34" charset="0"/>
                <a:ea typeface="Instrument Sans" pitchFamily="34" charset="-122"/>
                <a:cs typeface="Instrument Sans" pitchFamily="34" charset="-120"/>
              </a:rPr>
              <a:t>3,499</a:t>
            </a:r>
            <a:r>
              <a:rPr lang="en-US" sz="1200" dirty="0">
                <a:solidFill>
                  <a:srgbClr val="B8432C"/>
                </a:solidFill>
                <a:latin typeface="Instrument Sans" pitchFamily="34" charset="0"/>
                <a:ea typeface="Instrument Sans" pitchFamily="34" charset="-122"/>
                <a:cs typeface="Instrument Sans" pitchFamily="34" charset="-120"/>
              </a:rPr>
              <a:t> extra</a:t>
            </a:r>
            <a:endParaRPr lang="en-US" sz="1200" dirty="0"/>
          </a:p>
        </p:txBody>
      </p:sp>
      <p:sp>
        <p:nvSpPr>
          <p:cNvPr id="37" name="Text 32"/>
          <p:cNvSpPr/>
          <p:nvPr/>
        </p:nvSpPr>
        <p:spPr>
          <a:xfrm>
            <a:off x="10109200" y="5245089"/>
            <a:ext cx="1269985"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7% of 48,869</a:t>
            </a:r>
            <a:endParaRPr lang="en-US" sz="1200" dirty="0"/>
          </a:p>
        </p:txBody>
      </p:sp>
      <p:sp>
        <p:nvSpPr>
          <p:cNvPr id="38" name="Text 33"/>
          <p:cNvSpPr/>
          <p:nvPr/>
        </p:nvSpPr>
        <p:spPr>
          <a:xfrm>
            <a:off x="812767" y="6238240"/>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Kalpa Health · Brief E · The offer</a:t>
            </a:r>
            <a:endParaRPr lang="en-US" sz="1200" dirty="0"/>
          </a:p>
        </p:txBody>
      </p:sp>
      <p:sp>
        <p:nvSpPr>
          <p:cNvPr id="39" name="Shape 34"/>
          <p:cNvSpPr/>
          <p:nvPr/>
        </p:nvSpPr>
        <p:spPr>
          <a:xfrm>
            <a:off x="8991595" y="6337287"/>
            <a:ext cx="2387589" cy="38068"/>
          </a:xfrm>
          <a:prstGeom prst="rect">
            <a:avLst/>
          </a:prstGeom>
          <a:gradFill rotWithShape="1">
            <a:gsLst>
              <a:gs pos="0">
                <a:srgbClr val="D9D2C3"/>
              </a:gs>
              <a:gs pos="87500">
                <a:srgbClr val="D9D2C3"/>
              </a:gs>
              <a:gs pos="87500">
                <a:srgbClr val="D9D2C3">
                  <a:alpha val="0"/>
                </a:srgbClr>
              </a:gs>
              <a:gs pos="100000">
                <a:srgbClr val="000000">
                  <a:alpha val="0"/>
                </a:srgbClr>
              </a:gs>
            </a:gsLst>
            <a:lin ang="0" scaled="0"/>
          </a:gradFill>
          <a:ln/>
        </p:spPr>
      </p:sp>
      <p:sp>
        <p:nvSpPr>
          <p:cNvPr id="40" name="Shape 35"/>
          <p:cNvSpPr/>
          <p:nvPr/>
        </p:nvSpPr>
        <p:spPr>
          <a:xfrm>
            <a:off x="9397979" y="6337287"/>
            <a:ext cx="355568" cy="38068"/>
          </a:xfrm>
          <a:prstGeom prst="roundRect">
            <a:avLst>
              <a:gd name="adj" fmla="val 50000"/>
            </a:avLst>
          </a:prstGeom>
          <a:solidFill>
            <a:srgbClr val="D08A1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08A1E"/>
        </a:solidFill>
      </p:bgPr>
    </p:bg>
    <p:spTree>
      <p:nvGrpSpPr>
        <p:cNvPr id="1" name=""/>
        <p:cNvGrpSpPr/>
        <p:nvPr/>
      </p:nvGrpSpPr>
      <p:grpSpPr>
        <a:xfrm>
          <a:off x="0" y="0"/>
          <a:ext cx="0" cy="0"/>
          <a:chOff x="0" y="0"/>
          <a:chExt cx="0" cy="0"/>
        </a:xfrm>
      </p:grpSpPr>
      <p:sp>
        <p:nvSpPr>
          <p:cNvPr id="2" name="Text 0"/>
          <p:cNvSpPr/>
          <p:nvPr/>
        </p:nvSpPr>
        <p:spPr>
          <a:xfrm>
            <a:off x="812767" y="81276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222A"/>
                </a:solidFill>
                <a:latin typeface="Instrument Sans" pitchFamily="34" charset="0"/>
                <a:ea typeface="Instrument Sans" pitchFamily="34" charset="-122"/>
                <a:cs typeface="Instrument Sans" pitchFamily="34" charset="-120"/>
              </a:rPr>
              <a:t>03 · THE CLAIM</a:t>
            </a:r>
            <a:endParaRPr lang="en-US" sz="1200" dirty="0"/>
          </a:p>
        </p:txBody>
      </p:sp>
      <p:sp>
        <p:nvSpPr>
          <p:cNvPr id="3" name="Text 1"/>
          <p:cNvSpPr/>
          <p:nvPr>
            <p:ph type="title"/>
          </p:nvPr>
        </p:nvSpPr>
        <p:spPr>
          <a:xfrm>
            <a:off x="812767" y="1168369"/>
            <a:ext cx="7325346" cy="2219926"/>
          </a:xfrm>
          <a:prstGeom prst="rect">
            <a:avLst/>
          </a:prstGeom>
          <a:noFill/>
          <a:ln/>
        </p:spPr>
        <p:txBody>
          <a:bodyPr wrap="square" lIns="0" tIns="0" rIns="0" bIns="0" rtlCol="0" anchor="t">
            <a:normAutofit/>
          </a:bodyPr>
          <a:lstStyle/>
          <a:p>
            <a:pPr algn="l" indent="0" marL="0">
              <a:lnSpc>
                <a:spcPts val="4320"/>
              </a:lnSpc>
              <a:buNone/>
            </a:pPr>
            <a:r>
              <a:rPr lang="en-US" sz="4000" b="0" i="0" spc="-50" kern="0" dirty="0">
                <a:solidFill>
                  <a:srgbClr val="17222A"/>
                </a:solidFill>
                <a:latin typeface="Instrument Serif" pitchFamily="18" charset="0"/>
                <a:ea typeface="Instrument Serif" pitchFamily="18" charset="-122"/>
                <a:cs typeface="Instrument Serif" pitchFamily="18" charset="-120"/>
              </a:rPr>
              <a:t>About 3,500 of the 48,869 free home bookings in January–March 2026 (7%) were bookings Kalpa would not otherwise have had.</a:t>
            </a:r>
            <a:endParaRPr lang="en-US" sz="4000" dirty="0"/>
          </a:p>
        </p:txBody>
      </p:sp>
      <p:sp>
        <p:nvSpPr>
          <p:cNvPr id="4" name="Text 2"/>
          <p:cNvSpPr/>
          <p:nvPr/>
        </p:nvSpPr>
        <p:spPr>
          <a:xfrm>
            <a:off x="7062462" y="3555992"/>
            <a:ext cx="4316723" cy="1295400"/>
          </a:xfrm>
          <a:prstGeom prst="rect">
            <a:avLst/>
          </a:prstGeom>
          <a:noFill/>
          <a:ln/>
        </p:spPr>
        <p:txBody>
          <a:bodyPr wrap="square" lIns="0" tIns="0" rIns="0" bIns="0" rtlCol="0" anchor="t">
            <a:normAutofit/>
          </a:bodyPr>
          <a:lstStyle/>
          <a:p>
            <a:pPr algn="r" indent="0" marL="0">
              <a:lnSpc>
                <a:spcPts val="10000"/>
              </a:lnSpc>
              <a:buNone/>
            </a:pPr>
            <a:r>
              <a:rPr lang="en-US" sz="10000" b="1" spc="-200" kern="0" dirty="0">
                <a:solidFill>
                  <a:srgbClr val="17222A"/>
                </a:solidFill>
                <a:latin typeface="Instrument Sans" pitchFamily="34" charset="0"/>
                <a:ea typeface="Instrument Sans" pitchFamily="34" charset="-122"/>
                <a:cs typeface="Instrument Sans" pitchFamily="34" charset="-120"/>
              </a:rPr>
              <a:t>3,499</a:t>
            </a:r>
            <a:endParaRPr lang="en-US" sz="10000" dirty="0"/>
          </a:p>
        </p:txBody>
      </p:sp>
      <p:sp>
        <p:nvSpPr>
          <p:cNvPr id="5" name="Text 3"/>
          <p:cNvSpPr/>
          <p:nvPr/>
        </p:nvSpPr>
        <p:spPr>
          <a:xfrm>
            <a:off x="7062462" y="4927589"/>
            <a:ext cx="4316723" cy="421655"/>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2B2A22"/>
                </a:solidFill>
                <a:latin typeface="Instrument Sans" pitchFamily="34" charset="0"/>
                <a:ea typeface="Instrument Sans" pitchFamily="34" charset="-122"/>
                <a:cs typeface="Instrument Sans" pitchFamily="34" charset="-120"/>
              </a:rPr>
              <a:t>extra bookings, central estimate</a:t>
            </a:r>
            <a:endParaRPr lang="en-US" sz="1200" dirty="0"/>
          </a:p>
          <a:p>
            <a:pPr algn="r" indent="0" marL="0">
              <a:lnSpc>
                <a:spcPts val="1560"/>
              </a:lnSpc>
              <a:buNone/>
            </a:pPr>
            <a:r>
              <a:rPr lang="en-US" sz="1200" dirty="0">
                <a:solidFill>
                  <a:srgbClr val="2B2A22"/>
                </a:solidFill>
                <a:latin typeface="Instrument Sans" pitchFamily="34" charset="0"/>
                <a:ea typeface="Instrument Sans" pitchFamily="34" charset="-122"/>
                <a:cs typeface="Instrument Sans" pitchFamily="34" charset="-120"/>
              </a:rPr>
              <a:t>range 1,755 to 4,842</a:t>
            </a:r>
            <a:endParaRPr lang="en-US" sz="1200" dirty="0"/>
          </a:p>
        </p:txBody>
      </p:sp>
      <p:sp>
        <p:nvSpPr>
          <p:cNvPr id="6" name="Text 4"/>
          <p:cNvSpPr/>
          <p:nvPr/>
        </p:nvSpPr>
        <p:spPr>
          <a:xfrm>
            <a:off x="812767" y="5118067"/>
            <a:ext cx="5886450" cy="22352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B2A22"/>
                </a:solidFill>
                <a:latin typeface="Instrument Sans" pitchFamily="34" charset="0"/>
                <a:ea typeface="Instrument Sans" pitchFamily="34" charset="-122"/>
                <a:cs typeface="Instrument Sans" pitchFamily="34" charset="-120"/>
              </a:rPr>
              <a:t>Six cities · bookings by visit date · Q1 2026 against Q1 2025</a:t>
            </a:r>
            <a:endParaRPr lang="en-US" sz="1200" dirty="0"/>
          </a:p>
        </p:txBody>
      </p:sp>
      <p:sp>
        <p:nvSpPr>
          <p:cNvPr id="7" name="Text 5"/>
          <p:cNvSpPr/>
          <p:nvPr/>
        </p:nvSpPr>
        <p:spPr>
          <a:xfrm>
            <a:off x="812767" y="6238241"/>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2A22"/>
                </a:solidFill>
                <a:latin typeface="Instrument Sans" pitchFamily="34" charset="0"/>
                <a:ea typeface="Instrument Sans" pitchFamily="34" charset="-122"/>
                <a:cs typeface="Instrument Sans" pitchFamily="34" charset="-120"/>
              </a:rPr>
              <a:t>Kalpa Health · Brief E · The offer</a:t>
            </a:r>
            <a:endParaRPr lang="en-US" sz="1200" dirty="0"/>
          </a:p>
        </p:txBody>
      </p:sp>
      <p:sp>
        <p:nvSpPr>
          <p:cNvPr id="8" name="Shape 6"/>
          <p:cNvSpPr/>
          <p:nvPr/>
        </p:nvSpPr>
        <p:spPr>
          <a:xfrm>
            <a:off x="8991595" y="6337288"/>
            <a:ext cx="2387589" cy="38068"/>
          </a:xfrm>
          <a:prstGeom prst="rect">
            <a:avLst/>
          </a:prstGeom>
          <a:gradFill rotWithShape="1">
            <a:gsLst>
              <a:gs pos="0">
                <a:srgbClr val="17222A">
                  <a:alpha val="22000"/>
                </a:srgbClr>
              </a:gs>
              <a:gs pos="87500">
                <a:srgbClr val="17222A">
                  <a:alpha val="22000"/>
                </a:srgbClr>
              </a:gs>
              <a:gs pos="87500">
                <a:srgbClr val="17222A">
                  <a:alpha val="0"/>
                </a:srgbClr>
              </a:gs>
              <a:gs pos="100000">
                <a:srgbClr val="000000">
                  <a:alpha val="0"/>
                </a:srgbClr>
              </a:gs>
            </a:gsLst>
            <a:lin ang="0" scaled="0"/>
          </a:gradFill>
          <a:ln/>
        </p:spPr>
      </p:sp>
      <p:sp>
        <p:nvSpPr>
          <p:cNvPr id="9" name="Shape 7"/>
          <p:cNvSpPr/>
          <p:nvPr/>
        </p:nvSpPr>
        <p:spPr>
          <a:xfrm>
            <a:off x="9804397" y="6337288"/>
            <a:ext cx="355568" cy="38068"/>
          </a:xfrm>
          <a:prstGeom prst="roundRect">
            <a:avLst>
              <a:gd name="adj" fmla="val 50000"/>
            </a:avLst>
          </a:prstGeom>
          <a:solidFill>
            <a:srgbClr val="17222A"/>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67" y="81276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04 · THE EVIDENCE</a:t>
            </a:r>
            <a:endParaRPr lang="en-US" sz="1200" dirty="0"/>
          </a:p>
        </p:txBody>
      </p:sp>
      <p:sp>
        <p:nvSpPr>
          <p:cNvPr id="3" name="Text 1"/>
          <p:cNvSpPr/>
          <p:nvPr>
            <p:ph type="title"/>
          </p:nvPr>
        </p:nvSpPr>
        <p:spPr>
          <a:xfrm>
            <a:off x="812767" y="1127719"/>
            <a:ext cx="10883445" cy="558804"/>
          </a:xfrm>
          <a:prstGeom prst="rect">
            <a:avLst/>
          </a:prstGeom>
          <a:noFill/>
          <a:ln/>
        </p:spPr>
        <p:txBody>
          <a:bodyPr wrap="square" lIns="0" tIns="0" rIns="0" bIns="0" rtlCol="0" anchor="t">
            <a:normAutofit/>
          </a:bodyPr>
          <a:lstStyle/>
          <a:p>
            <a:pPr algn="l" indent="0" marL="0">
              <a:lnSpc>
                <a:spcPts val="4200"/>
              </a:lnSpc>
              <a:buNone/>
            </a:pPr>
            <a:r>
              <a:rPr lang="en-US" sz="4000" b="0" i="0" spc="-50" kern="0" dirty="0">
                <a:solidFill>
                  <a:srgbClr val="17222A"/>
                </a:solidFill>
                <a:latin typeface="Instrument Serif" pitchFamily="18" charset="0"/>
                <a:ea typeface="Instrument Serif" pitchFamily="18" charset="-122"/>
                <a:cs typeface="Instrument Serif" pitchFamily="18" charset="-120"/>
              </a:rPr>
              <a:t>Most free bookings would have happened anyway</a:t>
            </a:r>
            <a:endParaRPr lang="en-US" sz="4000" dirty="0"/>
          </a:p>
        </p:txBody>
      </p:sp>
      <p:sp>
        <p:nvSpPr>
          <p:cNvPr id="4" name="Shape 2"/>
          <p:cNvSpPr/>
          <p:nvPr/>
        </p:nvSpPr>
        <p:spPr>
          <a:xfrm>
            <a:off x="9188448" y="2362200"/>
            <a:ext cx="1104877" cy="3022589"/>
          </a:xfrm>
          <a:prstGeom prst="roundRect">
            <a:avLst>
              <a:gd name="adj" fmla="val 4598"/>
            </a:avLst>
          </a:prstGeom>
          <a:solidFill>
            <a:srgbClr val="B8432C">
              <a:alpha val="8000"/>
            </a:srgbClr>
          </a:solidFill>
          <a:ln/>
        </p:spPr>
      </p:sp>
      <p:sp>
        <p:nvSpPr>
          <p:cNvPr id="5" name="Text 3"/>
          <p:cNvSpPr/>
          <p:nvPr/>
        </p:nvSpPr>
        <p:spPr>
          <a:xfrm>
            <a:off x="812767" y="2095480"/>
            <a:ext cx="3531842" cy="558804"/>
          </a:xfrm>
          <a:prstGeom prst="rect">
            <a:avLst/>
          </a:prstGeom>
          <a:noFill/>
          <a:ln/>
        </p:spPr>
        <p:txBody>
          <a:bodyPr wrap="square" lIns="0" tIns="0" rIns="0" bIns="0" rtlCol="0" anchor="t">
            <a:normAutofit/>
          </a:bodyPr>
          <a:lstStyle/>
          <a:p>
            <a:pPr algn="l" indent="0" marL="0">
              <a:lnSpc>
                <a:spcPts val="4200"/>
              </a:lnSpc>
              <a:buNone/>
            </a:pPr>
            <a:r>
              <a:rPr lang="en-US" sz="4000" b="1" spc="-100" kern="0" dirty="0">
                <a:solidFill>
                  <a:srgbClr val="17222A"/>
                </a:solidFill>
                <a:latin typeface="Instrument Sans" pitchFamily="34" charset="0"/>
                <a:ea typeface="Instrument Sans" pitchFamily="34" charset="-122"/>
                <a:cs typeface="Instrument Sans" pitchFamily="34" charset="-120"/>
              </a:rPr>
              <a:t>+3.6%</a:t>
            </a:r>
            <a:endParaRPr lang="en-US" sz="4000" dirty="0"/>
          </a:p>
        </p:txBody>
      </p:sp>
      <p:sp>
        <p:nvSpPr>
          <p:cNvPr id="6" name="Text 4"/>
          <p:cNvSpPr/>
          <p:nvPr/>
        </p:nvSpPr>
        <p:spPr>
          <a:xfrm>
            <a:off x="812767" y="2679664"/>
            <a:ext cx="353184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5C"/>
                </a:solidFill>
                <a:latin typeface="Instrument Sans" pitchFamily="34" charset="0"/>
                <a:ea typeface="Instrument Sans" pitchFamily="34" charset="-122"/>
                <a:cs typeface="Instrument Sans" pitchFamily="34" charset="-120"/>
              </a:rPr>
              <a:t>bookings, Q1 2026 against Q1 2025: 99,621 against 96,122</a:t>
            </a:r>
            <a:endParaRPr lang="en-US" sz="1200" dirty="0"/>
          </a:p>
        </p:txBody>
      </p:sp>
      <p:sp>
        <p:nvSpPr>
          <p:cNvPr id="7" name="Text 5"/>
          <p:cNvSpPr/>
          <p:nvPr/>
        </p:nvSpPr>
        <p:spPr>
          <a:xfrm>
            <a:off x="812767" y="3301988"/>
            <a:ext cx="3531842" cy="558804"/>
          </a:xfrm>
          <a:prstGeom prst="rect">
            <a:avLst/>
          </a:prstGeom>
          <a:noFill/>
          <a:ln/>
        </p:spPr>
        <p:txBody>
          <a:bodyPr wrap="square" lIns="0" tIns="0" rIns="0" bIns="0" rtlCol="0" anchor="t">
            <a:normAutofit/>
          </a:bodyPr>
          <a:lstStyle/>
          <a:p>
            <a:pPr algn="l" indent="0" marL="0">
              <a:lnSpc>
                <a:spcPts val="4200"/>
              </a:lnSpc>
              <a:buNone/>
            </a:pPr>
            <a:r>
              <a:rPr lang="en-US" sz="4000" b="1" spc="-100" kern="0" dirty="0">
                <a:solidFill>
                  <a:srgbClr val="17222A"/>
                </a:solidFill>
                <a:latin typeface="Instrument Sans" pitchFamily="34" charset="0"/>
                <a:ea typeface="Instrument Sans" pitchFamily="34" charset="-122"/>
                <a:cs typeface="Instrument Sans" pitchFamily="34" charset="-120"/>
              </a:rPr>
              <a:t>71%</a:t>
            </a:r>
            <a:endParaRPr lang="en-US" sz="4000" dirty="0"/>
          </a:p>
        </p:txBody>
      </p:sp>
      <p:sp>
        <p:nvSpPr>
          <p:cNvPr id="8" name="Text 6"/>
          <p:cNvSpPr/>
          <p:nvPr/>
        </p:nvSpPr>
        <p:spPr>
          <a:xfrm>
            <a:off x="812767" y="3886172"/>
            <a:ext cx="353184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5C"/>
                </a:solidFill>
                <a:latin typeface="Instrument Sans" pitchFamily="34" charset="0"/>
                <a:ea typeface="Instrument Sans" pitchFamily="34" charset="-122"/>
                <a:cs typeface="Instrument Sans" pitchFamily="34" charset="-120"/>
              </a:rPr>
              <a:t>of the 48,869 offer bookings came from existing patients (34,758)</a:t>
            </a:r>
            <a:endParaRPr lang="en-US" sz="1200" dirty="0"/>
          </a:p>
        </p:txBody>
      </p:sp>
      <p:sp>
        <p:nvSpPr>
          <p:cNvPr id="9" name="Text 7"/>
          <p:cNvSpPr/>
          <p:nvPr/>
        </p:nvSpPr>
        <p:spPr>
          <a:xfrm>
            <a:off x="812767" y="4508494"/>
            <a:ext cx="3531842" cy="558804"/>
          </a:xfrm>
          <a:prstGeom prst="rect">
            <a:avLst/>
          </a:prstGeom>
          <a:noFill/>
          <a:ln/>
        </p:spPr>
        <p:txBody>
          <a:bodyPr wrap="square" lIns="0" tIns="0" rIns="0" bIns="0" rtlCol="0" anchor="t">
            <a:normAutofit/>
          </a:bodyPr>
          <a:lstStyle/>
          <a:p>
            <a:pPr algn="l" indent="0" marL="0">
              <a:lnSpc>
                <a:spcPts val="4200"/>
              </a:lnSpc>
              <a:buNone/>
            </a:pPr>
            <a:r>
              <a:rPr lang="en-US" sz="4000" b="1" spc="-100" kern="0" dirty="0">
                <a:solidFill>
                  <a:srgbClr val="17222A"/>
                </a:solidFill>
                <a:latin typeface="Instrument Sans" pitchFamily="34" charset="0"/>
                <a:ea typeface="Instrument Sans" pitchFamily="34" charset="-122"/>
                <a:cs typeface="Instrument Sans" pitchFamily="34" charset="-120"/>
              </a:rPr>
              <a:t>12,554</a:t>
            </a:r>
            <a:endParaRPr lang="en-US" sz="4000" dirty="0"/>
          </a:p>
        </p:txBody>
      </p:sp>
      <p:sp>
        <p:nvSpPr>
          <p:cNvPr id="10" name="Text 8"/>
          <p:cNvSpPr/>
          <p:nvPr/>
        </p:nvSpPr>
        <p:spPr>
          <a:xfrm>
            <a:off x="812767" y="5092678"/>
            <a:ext cx="353184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5C"/>
                </a:solidFill>
                <a:latin typeface="Instrument Sans" pitchFamily="34" charset="0"/>
                <a:ea typeface="Instrument Sans" pitchFamily="34" charset="-122"/>
                <a:cs typeface="Instrument Sans" pitchFamily="34" charset="-120"/>
              </a:rPr>
              <a:t>bookings moved from clinic to home: clinic fell from 63,306 to 50,752</a:t>
            </a:r>
            <a:endParaRPr lang="en-US" sz="1200" dirty="0"/>
          </a:p>
        </p:txBody>
      </p:sp>
      <p:sp>
        <p:nvSpPr>
          <p:cNvPr id="11" name="Shape 9"/>
          <p:cNvSpPr/>
          <p:nvPr/>
        </p:nvSpPr>
        <p:spPr>
          <a:xfrm>
            <a:off x="4825993" y="2082767"/>
            <a:ext cx="152377" cy="152377"/>
          </a:xfrm>
          <a:prstGeom prst="roundRect">
            <a:avLst>
              <a:gd name="adj" fmla="val 25004"/>
            </a:avLst>
          </a:prstGeom>
          <a:solidFill>
            <a:srgbClr val="D08A1E"/>
          </a:solidFill>
          <a:ln/>
        </p:spPr>
      </p:sp>
      <p:sp>
        <p:nvSpPr>
          <p:cNvPr id="12" name="Text 10"/>
          <p:cNvSpPr/>
          <p:nvPr/>
        </p:nvSpPr>
        <p:spPr>
          <a:xfrm>
            <a:off x="5054575" y="2057377"/>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A"/>
                </a:solidFill>
                <a:latin typeface="Instrument Sans" pitchFamily="34" charset="0"/>
                <a:ea typeface="Instrument Sans" pitchFamily="34" charset="-122"/>
                <a:cs typeface="Instrument Sans" pitchFamily="34" charset="-120"/>
              </a:rPr>
              <a:t>Home collection</a:t>
            </a:r>
            <a:endParaRPr lang="en-US" sz="1200" dirty="0"/>
          </a:p>
        </p:txBody>
      </p:sp>
      <p:sp>
        <p:nvSpPr>
          <p:cNvPr id="13" name="Shape 11"/>
          <p:cNvSpPr/>
          <p:nvPr/>
        </p:nvSpPr>
        <p:spPr>
          <a:xfrm>
            <a:off x="6540479" y="2082767"/>
            <a:ext cx="152377" cy="152377"/>
          </a:xfrm>
          <a:prstGeom prst="roundRect">
            <a:avLst>
              <a:gd name="adj" fmla="val 25004"/>
            </a:avLst>
          </a:prstGeom>
          <a:solidFill>
            <a:srgbClr val="2F6FB5"/>
          </a:solidFill>
          <a:ln/>
        </p:spPr>
      </p:sp>
      <p:sp>
        <p:nvSpPr>
          <p:cNvPr id="14" name="Text 12"/>
          <p:cNvSpPr/>
          <p:nvPr/>
        </p:nvSpPr>
        <p:spPr>
          <a:xfrm>
            <a:off x="6769095" y="2057377"/>
            <a:ext cx="812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A"/>
                </a:solidFill>
                <a:latin typeface="Instrument Sans" pitchFamily="34" charset="0"/>
                <a:ea typeface="Instrument Sans" pitchFamily="34" charset="-122"/>
                <a:cs typeface="Instrument Sans" pitchFamily="34" charset="-120"/>
              </a:rPr>
              <a:t>Clinic</a:t>
            </a:r>
            <a:endParaRPr lang="en-US" sz="1200" dirty="0"/>
          </a:p>
        </p:txBody>
      </p:sp>
      <p:sp>
        <p:nvSpPr>
          <p:cNvPr id="15" name="Text 13"/>
          <p:cNvSpPr/>
          <p:nvPr/>
        </p:nvSpPr>
        <p:spPr>
          <a:xfrm>
            <a:off x="8599472" y="2057377"/>
            <a:ext cx="2779712" cy="238755"/>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8432C"/>
                </a:solidFill>
                <a:latin typeface="Instrument Sans" pitchFamily="34" charset="0"/>
                <a:ea typeface="Instrument Sans" pitchFamily="34" charset="-122"/>
                <a:cs typeface="Instrument Sans" pitchFamily="34" charset="-120"/>
              </a:rPr>
              <a:t>Free home collection, Jan–Mar 2026</a:t>
            </a:r>
            <a:endParaRPr lang="en-US" sz="1200" dirty="0"/>
          </a:p>
        </p:txBody>
      </p:sp>
      <p:sp>
        <p:nvSpPr>
          <p:cNvPr id="16" name="Shape 14"/>
          <p:cNvSpPr/>
          <p:nvPr/>
        </p:nvSpPr>
        <p:spPr>
          <a:xfrm>
            <a:off x="4825993" y="3086083"/>
            <a:ext cx="253972" cy="596897"/>
          </a:xfrm>
          <a:custGeom>
            <a:avLst/>
            <a:gdLst/>
            <a:ahLst/>
            <a:cxnLst/>
            <a:rect l="l" t="t" r="r" b="b"/>
            <a:pathLst>
              <a:path w="253972" h="596897">
                <a:moveTo>
                  <a:pt x="25400" y="0"/>
                </a:moveTo>
                <a:lnTo>
                  <a:pt x="228572" y="0"/>
                </a:lnTo>
                <a:arcTo hR="25400" wR="25400" stAng="16200000" swAng="5400000"/>
                <a:lnTo>
                  <a:pt x="253972" y="596897"/>
                </a:lnTo>
                <a:lnTo>
                  <a:pt x="0" y="596897"/>
                </a:lnTo>
                <a:lnTo>
                  <a:pt x="0" y="25400"/>
                </a:lnTo>
                <a:arcTo hR="25400" wR="25400" stAng="10800000" swAng="5400000"/>
                <a:close/>
              </a:path>
            </a:pathLst>
          </a:custGeom>
          <a:solidFill>
            <a:srgbClr val="D08A1E"/>
          </a:solidFill>
          <a:ln/>
        </p:spPr>
      </p:sp>
      <p:sp>
        <p:nvSpPr>
          <p:cNvPr id="17" name="Shape 15"/>
          <p:cNvSpPr/>
          <p:nvPr/>
        </p:nvSpPr>
        <p:spPr>
          <a:xfrm>
            <a:off x="5194239" y="3105134"/>
            <a:ext cx="253972" cy="577846"/>
          </a:xfrm>
          <a:custGeom>
            <a:avLst/>
            <a:gdLst/>
            <a:ahLst/>
            <a:cxnLst/>
            <a:rect l="l" t="t" r="r" b="b"/>
            <a:pathLst>
              <a:path w="253972" h="577846">
                <a:moveTo>
                  <a:pt x="25400" y="0"/>
                </a:moveTo>
                <a:lnTo>
                  <a:pt x="228572" y="0"/>
                </a:lnTo>
                <a:arcTo hR="25400" wR="25400" stAng="16200000" swAng="5400000"/>
                <a:lnTo>
                  <a:pt x="253972" y="577846"/>
                </a:lnTo>
                <a:lnTo>
                  <a:pt x="0" y="577846"/>
                </a:lnTo>
                <a:lnTo>
                  <a:pt x="0" y="25400"/>
                </a:lnTo>
                <a:arcTo hR="25400" wR="25400" stAng="10800000" swAng="5400000"/>
                <a:close/>
              </a:path>
            </a:pathLst>
          </a:custGeom>
          <a:solidFill>
            <a:srgbClr val="D08A1E"/>
          </a:solidFill>
          <a:ln/>
        </p:spPr>
      </p:sp>
      <p:sp>
        <p:nvSpPr>
          <p:cNvPr id="18" name="Shape 16"/>
          <p:cNvSpPr/>
          <p:nvPr/>
        </p:nvSpPr>
        <p:spPr>
          <a:xfrm>
            <a:off x="5562485" y="3086083"/>
            <a:ext cx="253972" cy="596897"/>
          </a:xfrm>
          <a:custGeom>
            <a:avLst/>
            <a:gdLst/>
            <a:ahLst/>
            <a:cxnLst/>
            <a:rect l="l" t="t" r="r" b="b"/>
            <a:pathLst>
              <a:path w="253972" h="596897">
                <a:moveTo>
                  <a:pt x="25400" y="0"/>
                </a:moveTo>
                <a:lnTo>
                  <a:pt x="228572" y="0"/>
                </a:lnTo>
                <a:arcTo hR="25400" wR="25400" stAng="16200000" swAng="5400000"/>
                <a:lnTo>
                  <a:pt x="253972" y="596897"/>
                </a:lnTo>
                <a:lnTo>
                  <a:pt x="0" y="596897"/>
                </a:lnTo>
                <a:lnTo>
                  <a:pt x="0" y="25400"/>
                </a:lnTo>
                <a:arcTo hR="25400" wR="25400" stAng="10800000" swAng="5400000"/>
                <a:close/>
              </a:path>
            </a:pathLst>
          </a:custGeom>
          <a:solidFill>
            <a:srgbClr val="D08A1E"/>
          </a:solidFill>
          <a:ln/>
        </p:spPr>
      </p:sp>
      <p:sp>
        <p:nvSpPr>
          <p:cNvPr id="19" name="Shape 17"/>
          <p:cNvSpPr/>
          <p:nvPr/>
        </p:nvSpPr>
        <p:spPr>
          <a:xfrm>
            <a:off x="5930732" y="3098795"/>
            <a:ext cx="253972" cy="584185"/>
          </a:xfrm>
          <a:custGeom>
            <a:avLst/>
            <a:gdLst/>
            <a:ahLst/>
            <a:cxnLst/>
            <a:rect l="l" t="t" r="r" b="b"/>
            <a:pathLst>
              <a:path w="253972" h="584185">
                <a:moveTo>
                  <a:pt x="25400" y="0"/>
                </a:moveTo>
                <a:lnTo>
                  <a:pt x="228572" y="0"/>
                </a:lnTo>
                <a:arcTo hR="25400" wR="25400" stAng="16200000" swAng="5400000"/>
                <a:lnTo>
                  <a:pt x="253972" y="584185"/>
                </a:lnTo>
                <a:lnTo>
                  <a:pt x="0" y="584185"/>
                </a:lnTo>
                <a:lnTo>
                  <a:pt x="0" y="25400"/>
                </a:lnTo>
                <a:arcTo hR="25400" wR="25400" stAng="10800000" swAng="5400000"/>
                <a:close/>
              </a:path>
            </a:pathLst>
          </a:custGeom>
          <a:solidFill>
            <a:srgbClr val="D08A1E"/>
          </a:solidFill>
          <a:ln/>
        </p:spPr>
      </p:sp>
      <p:sp>
        <p:nvSpPr>
          <p:cNvPr id="20" name="Shape 18"/>
          <p:cNvSpPr/>
          <p:nvPr/>
        </p:nvSpPr>
        <p:spPr>
          <a:xfrm>
            <a:off x="6298978" y="3111508"/>
            <a:ext cx="253972" cy="571472"/>
          </a:xfrm>
          <a:custGeom>
            <a:avLst/>
            <a:gdLst/>
            <a:ahLst/>
            <a:cxnLst/>
            <a:rect l="l" t="t" r="r" b="b"/>
            <a:pathLst>
              <a:path w="253972" h="571472">
                <a:moveTo>
                  <a:pt x="25400" y="0"/>
                </a:moveTo>
                <a:lnTo>
                  <a:pt x="228572" y="0"/>
                </a:lnTo>
                <a:arcTo hR="25400" wR="25400" stAng="16200000" swAng="5400000"/>
                <a:lnTo>
                  <a:pt x="253972" y="571472"/>
                </a:lnTo>
                <a:lnTo>
                  <a:pt x="0" y="571472"/>
                </a:lnTo>
                <a:lnTo>
                  <a:pt x="0" y="25400"/>
                </a:lnTo>
                <a:arcTo hR="25400" wR="25400" stAng="10800000" swAng="5400000"/>
                <a:close/>
              </a:path>
            </a:pathLst>
          </a:custGeom>
          <a:solidFill>
            <a:srgbClr val="D08A1E"/>
          </a:solidFill>
          <a:ln/>
        </p:spPr>
      </p:sp>
      <p:sp>
        <p:nvSpPr>
          <p:cNvPr id="21" name="Shape 19"/>
          <p:cNvSpPr/>
          <p:nvPr/>
        </p:nvSpPr>
        <p:spPr>
          <a:xfrm>
            <a:off x="6667224" y="3117847"/>
            <a:ext cx="253972" cy="565133"/>
          </a:xfrm>
          <a:custGeom>
            <a:avLst/>
            <a:gdLst/>
            <a:ahLst/>
            <a:cxnLst/>
            <a:rect l="l" t="t" r="r" b="b"/>
            <a:pathLst>
              <a:path w="253972" h="565133">
                <a:moveTo>
                  <a:pt x="25400" y="0"/>
                </a:moveTo>
                <a:lnTo>
                  <a:pt x="228572" y="0"/>
                </a:lnTo>
                <a:arcTo hR="25400" wR="25400" stAng="16200000" swAng="5400000"/>
                <a:lnTo>
                  <a:pt x="253972" y="565133"/>
                </a:lnTo>
                <a:lnTo>
                  <a:pt x="0" y="565133"/>
                </a:lnTo>
                <a:lnTo>
                  <a:pt x="0" y="25400"/>
                </a:lnTo>
                <a:arcTo hR="25400" wR="25400" stAng="10800000" swAng="5400000"/>
                <a:close/>
              </a:path>
            </a:pathLst>
          </a:custGeom>
          <a:solidFill>
            <a:srgbClr val="D08A1E"/>
          </a:solidFill>
          <a:ln/>
        </p:spPr>
      </p:sp>
      <p:sp>
        <p:nvSpPr>
          <p:cNvPr id="22" name="Shape 20"/>
          <p:cNvSpPr/>
          <p:nvPr/>
        </p:nvSpPr>
        <p:spPr>
          <a:xfrm>
            <a:off x="7035471" y="3111508"/>
            <a:ext cx="253972" cy="571472"/>
          </a:xfrm>
          <a:custGeom>
            <a:avLst/>
            <a:gdLst/>
            <a:ahLst/>
            <a:cxnLst/>
            <a:rect l="l" t="t" r="r" b="b"/>
            <a:pathLst>
              <a:path w="253972" h="571472">
                <a:moveTo>
                  <a:pt x="25400" y="0"/>
                </a:moveTo>
                <a:lnTo>
                  <a:pt x="228572" y="0"/>
                </a:lnTo>
                <a:arcTo hR="25400" wR="25400" stAng="16200000" swAng="5400000"/>
                <a:lnTo>
                  <a:pt x="253972" y="571472"/>
                </a:lnTo>
                <a:lnTo>
                  <a:pt x="0" y="571472"/>
                </a:lnTo>
                <a:lnTo>
                  <a:pt x="0" y="25400"/>
                </a:lnTo>
                <a:arcTo hR="25400" wR="25400" stAng="10800000" swAng="5400000"/>
                <a:close/>
              </a:path>
            </a:pathLst>
          </a:custGeom>
          <a:solidFill>
            <a:srgbClr val="D08A1E"/>
          </a:solidFill>
          <a:ln/>
        </p:spPr>
      </p:sp>
      <p:sp>
        <p:nvSpPr>
          <p:cNvPr id="23" name="Shape 21"/>
          <p:cNvSpPr/>
          <p:nvPr/>
        </p:nvSpPr>
        <p:spPr>
          <a:xfrm>
            <a:off x="7403716" y="3143238"/>
            <a:ext cx="253972" cy="539743"/>
          </a:xfrm>
          <a:custGeom>
            <a:avLst/>
            <a:gdLst/>
            <a:ahLst/>
            <a:cxnLst/>
            <a:rect l="l" t="t" r="r" b="b"/>
            <a:pathLst>
              <a:path w="253972" h="539743">
                <a:moveTo>
                  <a:pt x="25400" y="0"/>
                </a:moveTo>
                <a:lnTo>
                  <a:pt x="228572" y="0"/>
                </a:lnTo>
                <a:arcTo hR="25400" wR="25400" stAng="16200000" swAng="5400000"/>
                <a:lnTo>
                  <a:pt x="253972" y="539743"/>
                </a:lnTo>
                <a:lnTo>
                  <a:pt x="0" y="539743"/>
                </a:lnTo>
                <a:lnTo>
                  <a:pt x="0" y="25400"/>
                </a:lnTo>
                <a:arcTo hR="25400" wR="25400" stAng="10800000" swAng="5400000"/>
                <a:close/>
              </a:path>
            </a:pathLst>
          </a:custGeom>
          <a:solidFill>
            <a:srgbClr val="D08A1E"/>
          </a:solidFill>
          <a:ln/>
        </p:spPr>
      </p:sp>
      <p:sp>
        <p:nvSpPr>
          <p:cNvPr id="24" name="Shape 22"/>
          <p:cNvSpPr/>
          <p:nvPr/>
        </p:nvSpPr>
        <p:spPr>
          <a:xfrm>
            <a:off x="7771963" y="3098795"/>
            <a:ext cx="253972" cy="584185"/>
          </a:xfrm>
          <a:custGeom>
            <a:avLst/>
            <a:gdLst/>
            <a:ahLst/>
            <a:cxnLst/>
            <a:rect l="l" t="t" r="r" b="b"/>
            <a:pathLst>
              <a:path w="253972" h="584185">
                <a:moveTo>
                  <a:pt x="25400" y="0"/>
                </a:moveTo>
                <a:lnTo>
                  <a:pt x="228572" y="0"/>
                </a:lnTo>
                <a:arcTo hR="25400" wR="25400" stAng="16200000" swAng="5400000"/>
                <a:lnTo>
                  <a:pt x="253972" y="584185"/>
                </a:lnTo>
                <a:lnTo>
                  <a:pt x="0" y="584185"/>
                </a:lnTo>
                <a:lnTo>
                  <a:pt x="0" y="25400"/>
                </a:lnTo>
                <a:arcTo hR="25400" wR="25400" stAng="10800000" swAng="5400000"/>
                <a:close/>
              </a:path>
            </a:pathLst>
          </a:custGeom>
          <a:solidFill>
            <a:srgbClr val="D08A1E"/>
          </a:solidFill>
          <a:ln/>
        </p:spPr>
      </p:sp>
      <p:sp>
        <p:nvSpPr>
          <p:cNvPr id="25" name="Shape 23"/>
          <p:cNvSpPr/>
          <p:nvPr/>
        </p:nvSpPr>
        <p:spPr>
          <a:xfrm>
            <a:off x="8140209" y="3130559"/>
            <a:ext cx="253972" cy="552421"/>
          </a:xfrm>
          <a:custGeom>
            <a:avLst/>
            <a:gdLst/>
            <a:ahLst/>
            <a:cxnLst/>
            <a:rect l="l" t="t" r="r" b="b"/>
            <a:pathLst>
              <a:path w="253972" h="552421">
                <a:moveTo>
                  <a:pt x="25400" y="0"/>
                </a:moveTo>
                <a:lnTo>
                  <a:pt x="228572" y="0"/>
                </a:lnTo>
                <a:arcTo hR="25400" wR="25400" stAng="16200000" swAng="5400000"/>
                <a:lnTo>
                  <a:pt x="253972" y="552421"/>
                </a:lnTo>
                <a:lnTo>
                  <a:pt x="0" y="552421"/>
                </a:lnTo>
                <a:lnTo>
                  <a:pt x="0" y="25400"/>
                </a:lnTo>
                <a:arcTo hR="25400" wR="25400" stAng="10800000" swAng="5400000"/>
                <a:close/>
              </a:path>
            </a:pathLst>
          </a:custGeom>
          <a:solidFill>
            <a:srgbClr val="D08A1E"/>
          </a:solidFill>
          <a:ln/>
        </p:spPr>
      </p:sp>
      <p:sp>
        <p:nvSpPr>
          <p:cNvPr id="26" name="Shape 24"/>
          <p:cNvSpPr/>
          <p:nvPr/>
        </p:nvSpPr>
        <p:spPr>
          <a:xfrm>
            <a:off x="8508455" y="3136898"/>
            <a:ext cx="253972" cy="546082"/>
          </a:xfrm>
          <a:custGeom>
            <a:avLst/>
            <a:gdLst/>
            <a:ahLst/>
            <a:cxnLst/>
            <a:rect l="l" t="t" r="r" b="b"/>
            <a:pathLst>
              <a:path w="253972" h="546082">
                <a:moveTo>
                  <a:pt x="25400" y="0"/>
                </a:moveTo>
                <a:lnTo>
                  <a:pt x="228572" y="0"/>
                </a:lnTo>
                <a:arcTo hR="25400" wR="25400" stAng="16200000" swAng="5400000"/>
                <a:lnTo>
                  <a:pt x="253972" y="546082"/>
                </a:lnTo>
                <a:lnTo>
                  <a:pt x="0" y="546082"/>
                </a:lnTo>
                <a:lnTo>
                  <a:pt x="0" y="25400"/>
                </a:lnTo>
                <a:arcTo hR="25400" wR="25400" stAng="10800000" swAng="5400000"/>
                <a:close/>
              </a:path>
            </a:pathLst>
          </a:custGeom>
          <a:solidFill>
            <a:srgbClr val="D08A1E"/>
          </a:solidFill>
          <a:ln/>
        </p:spPr>
      </p:sp>
      <p:sp>
        <p:nvSpPr>
          <p:cNvPr id="27" name="Shape 25"/>
          <p:cNvSpPr/>
          <p:nvPr/>
        </p:nvSpPr>
        <p:spPr>
          <a:xfrm>
            <a:off x="8876702" y="3136898"/>
            <a:ext cx="253972" cy="546082"/>
          </a:xfrm>
          <a:custGeom>
            <a:avLst/>
            <a:gdLst/>
            <a:ahLst/>
            <a:cxnLst/>
            <a:rect l="l" t="t" r="r" b="b"/>
            <a:pathLst>
              <a:path w="253972" h="546082">
                <a:moveTo>
                  <a:pt x="25400" y="0"/>
                </a:moveTo>
                <a:lnTo>
                  <a:pt x="228572" y="0"/>
                </a:lnTo>
                <a:arcTo hR="25400" wR="25400" stAng="16200000" swAng="5400000"/>
                <a:lnTo>
                  <a:pt x="253972" y="546082"/>
                </a:lnTo>
                <a:lnTo>
                  <a:pt x="0" y="546082"/>
                </a:lnTo>
                <a:lnTo>
                  <a:pt x="0" y="25400"/>
                </a:lnTo>
                <a:arcTo hR="25400" wR="25400" stAng="10800000" swAng="5400000"/>
                <a:close/>
              </a:path>
            </a:pathLst>
          </a:custGeom>
          <a:solidFill>
            <a:srgbClr val="D08A1E"/>
          </a:solidFill>
          <a:ln/>
        </p:spPr>
      </p:sp>
      <p:sp>
        <p:nvSpPr>
          <p:cNvPr id="28" name="Shape 26"/>
          <p:cNvSpPr/>
          <p:nvPr/>
        </p:nvSpPr>
        <p:spPr>
          <a:xfrm>
            <a:off x="9244948" y="2806686"/>
            <a:ext cx="253972" cy="876294"/>
          </a:xfrm>
          <a:custGeom>
            <a:avLst/>
            <a:gdLst/>
            <a:ahLst/>
            <a:cxnLst/>
            <a:rect l="l" t="t" r="r" b="b"/>
            <a:pathLst>
              <a:path w="253972" h="876294">
                <a:moveTo>
                  <a:pt x="25400" y="0"/>
                </a:moveTo>
                <a:lnTo>
                  <a:pt x="228572" y="0"/>
                </a:lnTo>
                <a:arcTo hR="25400" wR="25400" stAng="16200000" swAng="5400000"/>
                <a:lnTo>
                  <a:pt x="253972" y="876294"/>
                </a:lnTo>
                <a:lnTo>
                  <a:pt x="0" y="876294"/>
                </a:lnTo>
                <a:lnTo>
                  <a:pt x="0" y="25400"/>
                </a:lnTo>
                <a:arcTo hR="25400" wR="25400" stAng="10800000" swAng="5400000"/>
                <a:close/>
              </a:path>
            </a:pathLst>
          </a:custGeom>
          <a:solidFill>
            <a:srgbClr val="D08A1E"/>
          </a:solidFill>
          <a:ln/>
        </p:spPr>
      </p:sp>
      <p:sp>
        <p:nvSpPr>
          <p:cNvPr id="29" name="Shape 27"/>
          <p:cNvSpPr/>
          <p:nvPr/>
        </p:nvSpPr>
        <p:spPr>
          <a:xfrm>
            <a:off x="9613194" y="2781295"/>
            <a:ext cx="253972" cy="901685"/>
          </a:xfrm>
          <a:custGeom>
            <a:avLst/>
            <a:gdLst/>
            <a:ahLst/>
            <a:cxnLst/>
            <a:rect l="l" t="t" r="r" b="b"/>
            <a:pathLst>
              <a:path w="253972" h="901685">
                <a:moveTo>
                  <a:pt x="25400" y="0"/>
                </a:moveTo>
                <a:lnTo>
                  <a:pt x="228572" y="0"/>
                </a:lnTo>
                <a:arcTo hR="25400" wR="25400" stAng="16200000" swAng="5400000"/>
                <a:lnTo>
                  <a:pt x="253972" y="901685"/>
                </a:lnTo>
                <a:lnTo>
                  <a:pt x="0" y="901685"/>
                </a:lnTo>
                <a:lnTo>
                  <a:pt x="0" y="25400"/>
                </a:lnTo>
                <a:arcTo hR="25400" wR="25400" stAng="10800000" swAng="5400000"/>
                <a:close/>
              </a:path>
            </a:pathLst>
          </a:custGeom>
          <a:solidFill>
            <a:srgbClr val="D08A1E"/>
          </a:solidFill>
          <a:ln/>
        </p:spPr>
      </p:sp>
      <p:sp>
        <p:nvSpPr>
          <p:cNvPr id="30" name="Shape 28"/>
          <p:cNvSpPr/>
          <p:nvPr/>
        </p:nvSpPr>
        <p:spPr>
          <a:xfrm>
            <a:off x="9981440" y="2825738"/>
            <a:ext cx="253972" cy="857243"/>
          </a:xfrm>
          <a:custGeom>
            <a:avLst/>
            <a:gdLst/>
            <a:ahLst/>
            <a:cxnLst/>
            <a:rect l="l" t="t" r="r" b="b"/>
            <a:pathLst>
              <a:path w="253972" h="857243">
                <a:moveTo>
                  <a:pt x="25400" y="0"/>
                </a:moveTo>
                <a:lnTo>
                  <a:pt x="228572" y="0"/>
                </a:lnTo>
                <a:arcTo hR="25400" wR="25400" stAng="16200000" swAng="5400000"/>
                <a:lnTo>
                  <a:pt x="253972" y="857243"/>
                </a:lnTo>
                <a:lnTo>
                  <a:pt x="0" y="857243"/>
                </a:lnTo>
                <a:lnTo>
                  <a:pt x="0" y="25400"/>
                </a:lnTo>
                <a:arcTo hR="25400" wR="25400" stAng="10800000" swAng="5400000"/>
                <a:close/>
              </a:path>
            </a:pathLst>
          </a:custGeom>
          <a:solidFill>
            <a:srgbClr val="D08A1E"/>
          </a:solidFill>
          <a:ln/>
        </p:spPr>
      </p:sp>
      <p:sp>
        <p:nvSpPr>
          <p:cNvPr id="31" name="Shape 29"/>
          <p:cNvSpPr/>
          <p:nvPr/>
        </p:nvSpPr>
        <p:spPr>
          <a:xfrm>
            <a:off x="10349687" y="2984488"/>
            <a:ext cx="253972" cy="698493"/>
          </a:xfrm>
          <a:custGeom>
            <a:avLst/>
            <a:gdLst/>
            <a:ahLst/>
            <a:cxnLst/>
            <a:rect l="l" t="t" r="r" b="b"/>
            <a:pathLst>
              <a:path w="253972" h="698493">
                <a:moveTo>
                  <a:pt x="25400" y="0"/>
                </a:moveTo>
                <a:lnTo>
                  <a:pt x="228572" y="0"/>
                </a:lnTo>
                <a:arcTo hR="25400" wR="25400" stAng="16200000" swAng="5400000"/>
                <a:lnTo>
                  <a:pt x="253972" y="698493"/>
                </a:lnTo>
                <a:lnTo>
                  <a:pt x="0" y="698493"/>
                </a:lnTo>
                <a:lnTo>
                  <a:pt x="0" y="25400"/>
                </a:lnTo>
                <a:arcTo hR="25400" wR="25400" stAng="10800000" swAng="5400000"/>
                <a:close/>
              </a:path>
            </a:pathLst>
          </a:custGeom>
          <a:solidFill>
            <a:srgbClr val="D08A1E"/>
          </a:solidFill>
          <a:ln/>
        </p:spPr>
      </p:sp>
      <p:sp>
        <p:nvSpPr>
          <p:cNvPr id="32" name="Shape 30"/>
          <p:cNvSpPr/>
          <p:nvPr/>
        </p:nvSpPr>
        <p:spPr>
          <a:xfrm>
            <a:off x="10717933" y="2997200"/>
            <a:ext cx="253972" cy="685781"/>
          </a:xfrm>
          <a:custGeom>
            <a:avLst/>
            <a:gdLst/>
            <a:ahLst/>
            <a:cxnLst/>
            <a:rect l="l" t="t" r="r" b="b"/>
            <a:pathLst>
              <a:path w="253972" h="685781">
                <a:moveTo>
                  <a:pt x="25400" y="0"/>
                </a:moveTo>
                <a:lnTo>
                  <a:pt x="228572" y="0"/>
                </a:lnTo>
                <a:arcTo hR="25400" wR="25400" stAng="16200000" swAng="5400000"/>
                <a:lnTo>
                  <a:pt x="253972" y="685781"/>
                </a:lnTo>
                <a:lnTo>
                  <a:pt x="0" y="685781"/>
                </a:lnTo>
                <a:lnTo>
                  <a:pt x="0" y="25400"/>
                </a:lnTo>
                <a:arcTo hR="25400" wR="25400" stAng="10800000" swAng="5400000"/>
                <a:close/>
              </a:path>
            </a:pathLst>
          </a:custGeom>
          <a:solidFill>
            <a:srgbClr val="D08A1E"/>
          </a:solidFill>
          <a:ln/>
        </p:spPr>
      </p:sp>
      <p:sp>
        <p:nvSpPr>
          <p:cNvPr id="33" name="Shape 31"/>
          <p:cNvSpPr/>
          <p:nvPr/>
        </p:nvSpPr>
        <p:spPr>
          <a:xfrm>
            <a:off x="11086179" y="2997200"/>
            <a:ext cx="253972" cy="685781"/>
          </a:xfrm>
          <a:custGeom>
            <a:avLst/>
            <a:gdLst/>
            <a:ahLst/>
            <a:cxnLst/>
            <a:rect l="l" t="t" r="r" b="b"/>
            <a:pathLst>
              <a:path w="253972" h="685781">
                <a:moveTo>
                  <a:pt x="25400" y="0"/>
                </a:moveTo>
                <a:lnTo>
                  <a:pt x="228572" y="0"/>
                </a:lnTo>
                <a:arcTo hR="25400" wR="25400" stAng="16200000" swAng="5400000"/>
                <a:lnTo>
                  <a:pt x="253972" y="685781"/>
                </a:lnTo>
                <a:lnTo>
                  <a:pt x="0" y="685781"/>
                </a:lnTo>
                <a:lnTo>
                  <a:pt x="0" y="25400"/>
                </a:lnTo>
                <a:arcTo hR="25400" wR="25400" stAng="10800000" swAng="5400000"/>
                <a:close/>
              </a:path>
            </a:pathLst>
          </a:custGeom>
          <a:solidFill>
            <a:srgbClr val="D08A1E"/>
          </a:solidFill>
          <a:ln/>
        </p:spPr>
      </p:sp>
      <p:sp>
        <p:nvSpPr>
          <p:cNvPr id="34" name="Shape 32"/>
          <p:cNvSpPr/>
          <p:nvPr/>
        </p:nvSpPr>
        <p:spPr>
          <a:xfrm>
            <a:off x="4825993" y="3682980"/>
            <a:ext cx="6515088" cy="12678"/>
          </a:xfrm>
          <a:prstGeom prst="rect">
            <a:avLst/>
          </a:prstGeom>
          <a:solidFill>
            <a:srgbClr val="C9C0AE"/>
          </a:solidFill>
          <a:ln/>
        </p:spPr>
      </p:sp>
      <p:sp>
        <p:nvSpPr>
          <p:cNvPr id="35" name="Shape 33"/>
          <p:cNvSpPr/>
          <p:nvPr/>
        </p:nvSpPr>
        <p:spPr>
          <a:xfrm>
            <a:off x="4825993" y="4197333"/>
            <a:ext cx="253972" cy="1136640"/>
          </a:xfrm>
          <a:custGeom>
            <a:avLst/>
            <a:gdLst/>
            <a:ahLst/>
            <a:cxnLst/>
            <a:rect l="l" t="t" r="r" b="b"/>
            <a:pathLst>
              <a:path w="253972" h="1136640">
                <a:moveTo>
                  <a:pt x="25400" y="0"/>
                </a:moveTo>
                <a:lnTo>
                  <a:pt x="228572" y="0"/>
                </a:lnTo>
                <a:arcTo hR="25400" wR="25400" stAng="16200000" swAng="5400000"/>
                <a:lnTo>
                  <a:pt x="253972" y="1136640"/>
                </a:lnTo>
                <a:lnTo>
                  <a:pt x="0" y="1136640"/>
                </a:lnTo>
                <a:lnTo>
                  <a:pt x="0" y="25400"/>
                </a:lnTo>
                <a:arcTo hR="25400" wR="25400" stAng="10800000" swAng="5400000"/>
                <a:close/>
              </a:path>
            </a:pathLst>
          </a:custGeom>
          <a:solidFill>
            <a:srgbClr val="2F6FB5"/>
          </a:solidFill>
          <a:ln/>
        </p:spPr>
      </p:sp>
      <p:sp>
        <p:nvSpPr>
          <p:cNvPr id="36" name="Shape 34"/>
          <p:cNvSpPr/>
          <p:nvPr/>
        </p:nvSpPr>
        <p:spPr>
          <a:xfrm>
            <a:off x="5194239" y="4197333"/>
            <a:ext cx="253972" cy="1136640"/>
          </a:xfrm>
          <a:custGeom>
            <a:avLst/>
            <a:gdLst/>
            <a:ahLst/>
            <a:cxnLst/>
            <a:rect l="l" t="t" r="r" b="b"/>
            <a:pathLst>
              <a:path w="253972" h="1136640">
                <a:moveTo>
                  <a:pt x="25400" y="0"/>
                </a:moveTo>
                <a:lnTo>
                  <a:pt x="228572" y="0"/>
                </a:lnTo>
                <a:arcTo hR="25400" wR="25400" stAng="16200000" swAng="5400000"/>
                <a:lnTo>
                  <a:pt x="253972" y="1136640"/>
                </a:lnTo>
                <a:lnTo>
                  <a:pt x="0" y="1136640"/>
                </a:lnTo>
                <a:lnTo>
                  <a:pt x="0" y="25400"/>
                </a:lnTo>
                <a:arcTo hR="25400" wR="25400" stAng="10800000" swAng="5400000"/>
                <a:close/>
              </a:path>
            </a:pathLst>
          </a:custGeom>
          <a:solidFill>
            <a:srgbClr val="2F6FB5"/>
          </a:solidFill>
          <a:ln/>
        </p:spPr>
      </p:sp>
      <p:sp>
        <p:nvSpPr>
          <p:cNvPr id="37" name="Shape 35"/>
          <p:cNvSpPr/>
          <p:nvPr/>
        </p:nvSpPr>
        <p:spPr>
          <a:xfrm>
            <a:off x="5562485" y="4190994"/>
            <a:ext cx="253972" cy="1142979"/>
          </a:xfrm>
          <a:custGeom>
            <a:avLst/>
            <a:gdLst/>
            <a:ahLst/>
            <a:cxnLst/>
            <a:rect l="l" t="t" r="r" b="b"/>
            <a:pathLst>
              <a:path w="253972" h="1142979">
                <a:moveTo>
                  <a:pt x="25400" y="0"/>
                </a:moveTo>
                <a:lnTo>
                  <a:pt x="228572" y="0"/>
                </a:lnTo>
                <a:arcTo hR="25400" wR="25400" stAng="16200000" swAng="5400000"/>
                <a:lnTo>
                  <a:pt x="253972" y="1142979"/>
                </a:lnTo>
                <a:lnTo>
                  <a:pt x="0" y="1142979"/>
                </a:lnTo>
                <a:lnTo>
                  <a:pt x="0" y="25400"/>
                </a:lnTo>
                <a:arcTo hR="25400" wR="25400" stAng="10800000" swAng="5400000"/>
                <a:close/>
              </a:path>
            </a:pathLst>
          </a:custGeom>
          <a:solidFill>
            <a:srgbClr val="2F6FB5"/>
          </a:solidFill>
          <a:ln/>
        </p:spPr>
      </p:sp>
      <p:sp>
        <p:nvSpPr>
          <p:cNvPr id="38" name="Shape 36"/>
          <p:cNvSpPr/>
          <p:nvPr/>
        </p:nvSpPr>
        <p:spPr>
          <a:xfrm>
            <a:off x="5930732" y="4216384"/>
            <a:ext cx="253972" cy="1117589"/>
          </a:xfrm>
          <a:custGeom>
            <a:avLst/>
            <a:gdLst/>
            <a:ahLst/>
            <a:cxnLst/>
            <a:rect l="l" t="t" r="r" b="b"/>
            <a:pathLst>
              <a:path w="253972" h="1117589">
                <a:moveTo>
                  <a:pt x="25400" y="0"/>
                </a:moveTo>
                <a:lnTo>
                  <a:pt x="228572" y="0"/>
                </a:lnTo>
                <a:arcTo hR="25400" wR="25400" stAng="16200000" swAng="5400000"/>
                <a:lnTo>
                  <a:pt x="253972" y="1117589"/>
                </a:lnTo>
                <a:lnTo>
                  <a:pt x="0" y="1117589"/>
                </a:lnTo>
                <a:lnTo>
                  <a:pt x="0" y="25400"/>
                </a:lnTo>
                <a:arcTo hR="25400" wR="25400" stAng="10800000" swAng="5400000"/>
                <a:close/>
              </a:path>
            </a:pathLst>
          </a:custGeom>
          <a:solidFill>
            <a:srgbClr val="2F6FB5"/>
          </a:solidFill>
          <a:ln/>
        </p:spPr>
      </p:sp>
      <p:sp>
        <p:nvSpPr>
          <p:cNvPr id="39" name="Shape 37"/>
          <p:cNvSpPr/>
          <p:nvPr/>
        </p:nvSpPr>
        <p:spPr>
          <a:xfrm>
            <a:off x="6298978" y="4216384"/>
            <a:ext cx="253972" cy="1117589"/>
          </a:xfrm>
          <a:custGeom>
            <a:avLst/>
            <a:gdLst/>
            <a:ahLst/>
            <a:cxnLst/>
            <a:rect l="l" t="t" r="r" b="b"/>
            <a:pathLst>
              <a:path w="253972" h="1117589">
                <a:moveTo>
                  <a:pt x="25400" y="0"/>
                </a:moveTo>
                <a:lnTo>
                  <a:pt x="228572" y="0"/>
                </a:lnTo>
                <a:arcTo hR="25400" wR="25400" stAng="16200000" swAng="5400000"/>
                <a:lnTo>
                  <a:pt x="253972" y="1117589"/>
                </a:lnTo>
                <a:lnTo>
                  <a:pt x="0" y="1117589"/>
                </a:lnTo>
                <a:lnTo>
                  <a:pt x="0" y="25400"/>
                </a:lnTo>
                <a:arcTo hR="25400" wR="25400" stAng="10800000" swAng="5400000"/>
                <a:close/>
              </a:path>
            </a:pathLst>
          </a:custGeom>
          <a:solidFill>
            <a:srgbClr val="2F6FB5"/>
          </a:solidFill>
          <a:ln/>
        </p:spPr>
      </p:sp>
      <p:sp>
        <p:nvSpPr>
          <p:cNvPr id="40" name="Shape 38"/>
          <p:cNvSpPr/>
          <p:nvPr/>
        </p:nvSpPr>
        <p:spPr>
          <a:xfrm>
            <a:off x="6667224" y="4229097"/>
            <a:ext cx="253972" cy="1104877"/>
          </a:xfrm>
          <a:custGeom>
            <a:avLst/>
            <a:gdLst/>
            <a:ahLst/>
            <a:cxnLst/>
            <a:rect l="l" t="t" r="r" b="b"/>
            <a:pathLst>
              <a:path w="253972" h="1104877">
                <a:moveTo>
                  <a:pt x="25400" y="0"/>
                </a:moveTo>
                <a:lnTo>
                  <a:pt x="228572" y="0"/>
                </a:lnTo>
                <a:arcTo hR="25400" wR="25400" stAng="16200000" swAng="5400000"/>
                <a:lnTo>
                  <a:pt x="253972" y="1104877"/>
                </a:lnTo>
                <a:lnTo>
                  <a:pt x="0" y="1104877"/>
                </a:lnTo>
                <a:lnTo>
                  <a:pt x="0" y="25400"/>
                </a:lnTo>
                <a:arcTo hR="25400" wR="25400" stAng="10800000" swAng="5400000"/>
                <a:close/>
              </a:path>
            </a:pathLst>
          </a:custGeom>
          <a:solidFill>
            <a:srgbClr val="2F6FB5"/>
          </a:solidFill>
          <a:ln/>
        </p:spPr>
      </p:sp>
      <p:sp>
        <p:nvSpPr>
          <p:cNvPr id="41" name="Shape 39"/>
          <p:cNvSpPr/>
          <p:nvPr/>
        </p:nvSpPr>
        <p:spPr>
          <a:xfrm>
            <a:off x="7035471" y="4235436"/>
            <a:ext cx="253972" cy="1098538"/>
          </a:xfrm>
          <a:custGeom>
            <a:avLst/>
            <a:gdLst/>
            <a:ahLst/>
            <a:cxnLst/>
            <a:rect l="l" t="t" r="r" b="b"/>
            <a:pathLst>
              <a:path w="253972" h="1098538">
                <a:moveTo>
                  <a:pt x="25400" y="0"/>
                </a:moveTo>
                <a:lnTo>
                  <a:pt x="228572" y="0"/>
                </a:lnTo>
                <a:arcTo hR="25400" wR="25400" stAng="16200000" swAng="5400000"/>
                <a:lnTo>
                  <a:pt x="253972" y="1098538"/>
                </a:lnTo>
                <a:lnTo>
                  <a:pt x="0" y="1098538"/>
                </a:lnTo>
                <a:lnTo>
                  <a:pt x="0" y="25400"/>
                </a:lnTo>
                <a:arcTo hR="25400" wR="25400" stAng="10800000" swAng="5400000"/>
                <a:close/>
              </a:path>
            </a:pathLst>
          </a:custGeom>
          <a:solidFill>
            <a:srgbClr val="2F6FB5"/>
          </a:solidFill>
          <a:ln/>
        </p:spPr>
      </p:sp>
      <p:sp>
        <p:nvSpPr>
          <p:cNvPr id="42" name="Shape 40"/>
          <p:cNvSpPr/>
          <p:nvPr/>
        </p:nvSpPr>
        <p:spPr>
          <a:xfrm>
            <a:off x="7403716" y="4267198"/>
            <a:ext cx="253972" cy="1066774"/>
          </a:xfrm>
          <a:custGeom>
            <a:avLst/>
            <a:gdLst/>
            <a:ahLst/>
            <a:cxnLst/>
            <a:rect l="l" t="t" r="r" b="b"/>
            <a:pathLst>
              <a:path w="253972" h="1066774">
                <a:moveTo>
                  <a:pt x="25400" y="0"/>
                </a:moveTo>
                <a:lnTo>
                  <a:pt x="228572" y="0"/>
                </a:lnTo>
                <a:arcTo hR="25400" wR="25400" stAng="16200000" swAng="5400000"/>
                <a:lnTo>
                  <a:pt x="253972" y="1066774"/>
                </a:lnTo>
                <a:lnTo>
                  <a:pt x="0" y="1066774"/>
                </a:lnTo>
                <a:lnTo>
                  <a:pt x="0" y="25400"/>
                </a:lnTo>
                <a:arcTo hR="25400" wR="25400" stAng="10800000" swAng="5400000"/>
                <a:close/>
              </a:path>
            </a:pathLst>
          </a:custGeom>
          <a:solidFill>
            <a:srgbClr val="2F6FB5"/>
          </a:solidFill>
          <a:ln/>
        </p:spPr>
      </p:sp>
      <p:sp>
        <p:nvSpPr>
          <p:cNvPr id="43" name="Shape 41"/>
          <p:cNvSpPr/>
          <p:nvPr/>
        </p:nvSpPr>
        <p:spPr>
          <a:xfrm>
            <a:off x="7771963" y="4229097"/>
            <a:ext cx="253972" cy="1104877"/>
          </a:xfrm>
          <a:custGeom>
            <a:avLst/>
            <a:gdLst/>
            <a:ahLst/>
            <a:cxnLst/>
            <a:rect l="l" t="t" r="r" b="b"/>
            <a:pathLst>
              <a:path w="253972" h="1104877">
                <a:moveTo>
                  <a:pt x="25400" y="0"/>
                </a:moveTo>
                <a:lnTo>
                  <a:pt x="228572" y="0"/>
                </a:lnTo>
                <a:arcTo hR="25400" wR="25400" stAng="16200000" swAng="5400000"/>
                <a:lnTo>
                  <a:pt x="253972" y="1104877"/>
                </a:lnTo>
                <a:lnTo>
                  <a:pt x="0" y="1104877"/>
                </a:lnTo>
                <a:lnTo>
                  <a:pt x="0" y="25400"/>
                </a:lnTo>
                <a:arcTo hR="25400" wR="25400" stAng="10800000" swAng="5400000"/>
                <a:close/>
              </a:path>
            </a:pathLst>
          </a:custGeom>
          <a:solidFill>
            <a:srgbClr val="2F6FB5"/>
          </a:solidFill>
          <a:ln/>
        </p:spPr>
      </p:sp>
      <p:sp>
        <p:nvSpPr>
          <p:cNvPr id="44" name="Shape 42"/>
          <p:cNvSpPr/>
          <p:nvPr/>
        </p:nvSpPr>
        <p:spPr>
          <a:xfrm>
            <a:off x="8140209" y="4248148"/>
            <a:ext cx="253972" cy="1085825"/>
          </a:xfrm>
          <a:custGeom>
            <a:avLst/>
            <a:gdLst/>
            <a:ahLst/>
            <a:cxnLst/>
            <a:rect l="l" t="t" r="r" b="b"/>
            <a:pathLst>
              <a:path w="253972" h="1085825">
                <a:moveTo>
                  <a:pt x="25400" y="0"/>
                </a:moveTo>
                <a:lnTo>
                  <a:pt x="228572" y="0"/>
                </a:lnTo>
                <a:arcTo hR="25400" wR="25400" stAng="16200000" swAng="5400000"/>
                <a:lnTo>
                  <a:pt x="253972" y="1085825"/>
                </a:lnTo>
                <a:lnTo>
                  <a:pt x="0" y="1085825"/>
                </a:lnTo>
                <a:lnTo>
                  <a:pt x="0" y="25400"/>
                </a:lnTo>
                <a:arcTo hR="25400" wR="25400" stAng="10800000" swAng="5400000"/>
                <a:close/>
              </a:path>
            </a:pathLst>
          </a:custGeom>
          <a:solidFill>
            <a:srgbClr val="2F6FB5"/>
          </a:solidFill>
          <a:ln/>
        </p:spPr>
      </p:sp>
      <p:sp>
        <p:nvSpPr>
          <p:cNvPr id="45" name="Shape 43"/>
          <p:cNvSpPr/>
          <p:nvPr/>
        </p:nvSpPr>
        <p:spPr>
          <a:xfrm>
            <a:off x="8508455" y="4279877"/>
            <a:ext cx="253972" cy="1054096"/>
          </a:xfrm>
          <a:custGeom>
            <a:avLst/>
            <a:gdLst/>
            <a:ahLst/>
            <a:cxnLst/>
            <a:rect l="l" t="t" r="r" b="b"/>
            <a:pathLst>
              <a:path w="253972" h="1054096">
                <a:moveTo>
                  <a:pt x="25400" y="0"/>
                </a:moveTo>
                <a:lnTo>
                  <a:pt x="228572" y="0"/>
                </a:lnTo>
                <a:arcTo hR="25400" wR="25400" stAng="16200000" swAng="5400000"/>
                <a:lnTo>
                  <a:pt x="253972" y="1054096"/>
                </a:lnTo>
                <a:lnTo>
                  <a:pt x="0" y="1054096"/>
                </a:lnTo>
                <a:lnTo>
                  <a:pt x="0" y="25400"/>
                </a:lnTo>
                <a:arcTo hR="25400" wR="25400" stAng="10800000" swAng="5400000"/>
                <a:close/>
              </a:path>
            </a:pathLst>
          </a:custGeom>
          <a:solidFill>
            <a:srgbClr val="2F6FB5"/>
          </a:solidFill>
          <a:ln/>
        </p:spPr>
      </p:sp>
      <p:sp>
        <p:nvSpPr>
          <p:cNvPr id="46" name="Shape 44"/>
          <p:cNvSpPr/>
          <p:nvPr/>
        </p:nvSpPr>
        <p:spPr>
          <a:xfrm>
            <a:off x="8876702" y="4273538"/>
            <a:ext cx="253972" cy="1060435"/>
          </a:xfrm>
          <a:custGeom>
            <a:avLst/>
            <a:gdLst/>
            <a:ahLst/>
            <a:cxnLst/>
            <a:rect l="l" t="t" r="r" b="b"/>
            <a:pathLst>
              <a:path w="253972" h="1060435">
                <a:moveTo>
                  <a:pt x="25400" y="0"/>
                </a:moveTo>
                <a:lnTo>
                  <a:pt x="228572" y="0"/>
                </a:lnTo>
                <a:arcTo hR="25400" wR="25400" stAng="16200000" swAng="5400000"/>
                <a:lnTo>
                  <a:pt x="253972" y="1060435"/>
                </a:lnTo>
                <a:lnTo>
                  <a:pt x="0" y="1060435"/>
                </a:lnTo>
                <a:lnTo>
                  <a:pt x="0" y="25400"/>
                </a:lnTo>
                <a:arcTo hR="25400" wR="25400" stAng="10800000" swAng="5400000"/>
                <a:close/>
              </a:path>
            </a:pathLst>
          </a:custGeom>
          <a:solidFill>
            <a:srgbClr val="2F6FB5"/>
          </a:solidFill>
          <a:ln/>
        </p:spPr>
      </p:sp>
      <p:sp>
        <p:nvSpPr>
          <p:cNvPr id="47" name="Shape 45"/>
          <p:cNvSpPr/>
          <p:nvPr/>
        </p:nvSpPr>
        <p:spPr>
          <a:xfrm>
            <a:off x="9244948" y="4432288"/>
            <a:ext cx="253972" cy="901685"/>
          </a:xfrm>
          <a:custGeom>
            <a:avLst/>
            <a:gdLst/>
            <a:ahLst/>
            <a:cxnLst/>
            <a:rect l="l" t="t" r="r" b="b"/>
            <a:pathLst>
              <a:path w="253972" h="901685">
                <a:moveTo>
                  <a:pt x="25400" y="0"/>
                </a:moveTo>
                <a:lnTo>
                  <a:pt x="228572" y="0"/>
                </a:lnTo>
                <a:arcTo hR="25400" wR="25400" stAng="16200000" swAng="5400000"/>
                <a:lnTo>
                  <a:pt x="253972" y="901685"/>
                </a:lnTo>
                <a:lnTo>
                  <a:pt x="0" y="901685"/>
                </a:lnTo>
                <a:lnTo>
                  <a:pt x="0" y="25400"/>
                </a:lnTo>
                <a:arcTo hR="25400" wR="25400" stAng="10800000" swAng="5400000"/>
                <a:close/>
              </a:path>
            </a:pathLst>
          </a:custGeom>
          <a:solidFill>
            <a:srgbClr val="2F6FB5"/>
          </a:solidFill>
          <a:ln/>
        </p:spPr>
      </p:sp>
      <p:sp>
        <p:nvSpPr>
          <p:cNvPr id="48" name="Shape 46"/>
          <p:cNvSpPr/>
          <p:nvPr/>
        </p:nvSpPr>
        <p:spPr>
          <a:xfrm>
            <a:off x="9613194" y="4394186"/>
            <a:ext cx="253972" cy="939788"/>
          </a:xfrm>
          <a:custGeom>
            <a:avLst/>
            <a:gdLst/>
            <a:ahLst/>
            <a:cxnLst/>
            <a:rect l="l" t="t" r="r" b="b"/>
            <a:pathLst>
              <a:path w="253972" h="939788">
                <a:moveTo>
                  <a:pt x="25400" y="0"/>
                </a:moveTo>
                <a:lnTo>
                  <a:pt x="228572" y="0"/>
                </a:lnTo>
                <a:arcTo hR="25400" wR="25400" stAng="16200000" swAng="5400000"/>
                <a:lnTo>
                  <a:pt x="253972" y="939788"/>
                </a:lnTo>
                <a:lnTo>
                  <a:pt x="0" y="939788"/>
                </a:lnTo>
                <a:lnTo>
                  <a:pt x="0" y="25400"/>
                </a:lnTo>
                <a:arcTo hR="25400" wR="25400" stAng="10800000" swAng="5400000"/>
                <a:close/>
              </a:path>
            </a:pathLst>
          </a:custGeom>
          <a:solidFill>
            <a:srgbClr val="2F6FB5"/>
          </a:solidFill>
          <a:ln/>
        </p:spPr>
      </p:sp>
      <p:sp>
        <p:nvSpPr>
          <p:cNvPr id="49" name="Shape 47"/>
          <p:cNvSpPr/>
          <p:nvPr/>
        </p:nvSpPr>
        <p:spPr>
          <a:xfrm>
            <a:off x="9981440" y="4432288"/>
            <a:ext cx="253972" cy="901685"/>
          </a:xfrm>
          <a:custGeom>
            <a:avLst/>
            <a:gdLst/>
            <a:ahLst/>
            <a:cxnLst/>
            <a:rect l="l" t="t" r="r" b="b"/>
            <a:pathLst>
              <a:path w="253972" h="901685">
                <a:moveTo>
                  <a:pt x="25400" y="0"/>
                </a:moveTo>
                <a:lnTo>
                  <a:pt x="228572" y="0"/>
                </a:lnTo>
                <a:arcTo hR="25400" wR="25400" stAng="16200000" swAng="5400000"/>
                <a:lnTo>
                  <a:pt x="253972" y="901685"/>
                </a:lnTo>
                <a:lnTo>
                  <a:pt x="0" y="901685"/>
                </a:lnTo>
                <a:lnTo>
                  <a:pt x="0" y="25400"/>
                </a:lnTo>
                <a:arcTo hR="25400" wR="25400" stAng="10800000" swAng="5400000"/>
                <a:close/>
              </a:path>
            </a:pathLst>
          </a:custGeom>
          <a:solidFill>
            <a:srgbClr val="2F6FB5"/>
          </a:solidFill>
          <a:ln/>
        </p:spPr>
      </p:sp>
      <p:sp>
        <p:nvSpPr>
          <p:cNvPr id="50" name="Shape 48"/>
          <p:cNvSpPr/>
          <p:nvPr/>
        </p:nvSpPr>
        <p:spPr>
          <a:xfrm>
            <a:off x="10349687" y="4292589"/>
            <a:ext cx="253972" cy="1041383"/>
          </a:xfrm>
          <a:custGeom>
            <a:avLst/>
            <a:gdLst/>
            <a:ahLst/>
            <a:cxnLst/>
            <a:rect l="l" t="t" r="r" b="b"/>
            <a:pathLst>
              <a:path w="253972" h="1041383">
                <a:moveTo>
                  <a:pt x="25400" y="0"/>
                </a:moveTo>
                <a:lnTo>
                  <a:pt x="228572" y="0"/>
                </a:lnTo>
                <a:arcTo hR="25400" wR="25400" stAng="16200000" swAng="5400000"/>
                <a:lnTo>
                  <a:pt x="253972" y="1041383"/>
                </a:lnTo>
                <a:lnTo>
                  <a:pt x="0" y="1041383"/>
                </a:lnTo>
                <a:lnTo>
                  <a:pt x="0" y="25400"/>
                </a:lnTo>
                <a:arcTo hR="25400" wR="25400" stAng="10800000" swAng="5400000"/>
                <a:close/>
              </a:path>
            </a:pathLst>
          </a:custGeom>
          <a:solidFill>
            <a:srgbClr val="2F6FB5"/>
          </a:solidFill>
          <a:ln/>
        </p:spPr>
      </p:sp>
      <p:sp>
        <p:nvSpPr>
          <p:cNvPr id="51" name="Shape 49"/>
          <p:cNvSpPr/>
          <p:nvPr/>
        </p:nvSpPr>
        <p:spPr>
          <a:xfrm>
            <a:off x="10717933" y="4317980"/>
            <a:ext cx="253972" cy="1015993"/>
          </a:xfrm>
          <a:custGeom>
            <a:avLst/>
            <a:gdLst/>
            <a:ahLst/>
            <a:cxnLst/>
            <a:rect l="l" t="t" r="r" b="b"/>
            <a:pathLst>
              <a:path w="253972" h="1015993">
                <a:moveTo>
                  <a:pt x="25400" y="0"/>
                </a:moveTo>
                <a:lnTo>
                  <a:pt x="228572" y="0"/>
                </a:lnTo>
                <a:arcTo hR="25400" wR="25400" stAng="16200000" swAng="5400000"/>
                <a:lnTo>
                  <a:pt x="253972" y="1015993"/>
                </a:lnTo>
                <a:lnTo>
                  <a:pt x="0" y="1015993"/>
                </a:lnTo>
                <a:lnTo>
                  <a:pt x="0" y="25400"/>
                </a:lnTo>
                <a:arcTo hR="25400" wR="25400" stAng="10800000" swAng="5400000"/>
                <a:close/>
              </a:path>
            </a:pathLst>
          </a:custGeom>
          <a:solidFill>
            <a:srgbClr val="2F6FB5"/>
          </a:solidFill>
          <a:ln/>
        </p:spPr>
      </p:sp>
      <p:sp>
        <p:nvSpPr>
          <p:cNvPr id="52" name="Shape 50"/>
          <p:cNvSpPr/>
          <p:nvPr/>
        </p:nvSpPr>
        <p:spPr>
          <a:xfrm>
            <a:off x="11086179" y="4311641"/>
            <a:ext cx="253972" cy="1022332"/>
          </a:xfrm>
          <a:custGeom>
            <a:avLst/>
            <a:gdLst/>
            <a:ahLst/>
            <a:cxnLst/>
            <a:rect l="l" t="t" r="r" b="b"/>
            <a:pathLst>
              <a:path w="253972" h="1022332">
                <a:moveTo>
                  <a:pt x="25400" y="0"/>
                </a:moveTo>
                <a:lnTo>
                  <a:pt x="228572" y="0"/>
                </a:lnTo>
                <a:arcTo hR="25400" wR="25400" stAng="16200000" swAng="5400000"/>
                <a:lnTo>
                  <a:pt x="253972" y="1022332"/>
                </a:lnTo>
                <a:lnTo>
                  <a:pt x="0" y="1022332"/>
                </a:lnTo>
                <a:lnTo>
                  <a:pt x="0" y="25400"/>
                </a:lnTo>
                <a:arcTo hR="25400" wR="25400" stAng="10800000" swAng="5400000"/>
                <a:close/>
              </a:path>
            </a:pathLst>
          </a:custGeom>
          <a:solidFill>
            <a:srgbClr val="2F6FB5"/>
          </a:solidFill>
          <a:ln/>
        </p:spPr>
      </p:sp>
      <p:sp>
        <p:nvSpPr>
          <p:cNvPr id="53" name="Shape 51"/>
          <p:cNvSpPr/>
          <p:nvPr/>
        </p:nvSpPr>
        <p:spPr>
          <a:xfrm>
            <a:off x="4825993" y="5333974"/>
            <a:ext cx="6515088" cy="12678"/>
          </a:xfrm>
          <a:prstGeom prst="rect">
            <a:avLst/>
          </a:prstGeom>
          <a:solidFill>
            <a:srgbClr val="C9C0AE"/>
          </a:solidFill>
          <a:ln/>
        </p:spPr>
      </p:sp>
      <p:sp>
        <p:nvSpPr>
          <p:cNvPr id="54" name="Text 52"/>
          <p:cNvSpPr/>
          <p:nvPr/>
        </p:nvSpPr>
        <p:spPr>
          <a:xfrm>
            <a:off x="4546586" y="2870178"/>
            <a:ext cx="812786"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95600C"/>
                </a:solidFill>
                <a:latin typeface="Instrument Sans" pitchFamily="34" charset="0"/>
                <a:ea typeface="Instrument Sans" pitchFamily="34" charset="-122"/>
                <a:cs typeface="Instrument Sans" pitchFamily="34" charset="-120"/>
              </a:rPr>
              <a:t>11,015</a:t>
            </a:r>
            <a:endParaRPr lang="en-US" sz="1200" dirty="0"/>
          </a:p>
        </p:txBody>
      </p:sp>
      <p:sp>
        <p:nvSpPr>
          <p:cNvPr id="55" name="Text 53"/>
          <p:cNvSpPr/>
          <p:nvPr/>
        </p:nvSpPr>
        <p:spPr>
          <a:xfrm>
            <a:off x="8966195" y="2590781"/>
            <a:ext cx="812786"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95600C"/>
                </a:solidFill>
                <a:latin typeface="Instrument Sans" pitchFamily="34" charset="0"/>
                <a:ea typeface="Instrument Sans" pitchFamily="34" charset="-122"/>
                <a:cs typeface="Instrument Sans" pitchFamily="34" charset="-120"/>
              </a:rPr>
              <a:t>16,218</a:t>
            </a:r>
            <a:endParaRPr lang="en-US" sz="1200" dirty="0"/>
          </a:p>
        </p:txBody>
      </p:sp>
      <p:sp>
        <p:nvSpPr>
          <p:cNvPr id="56" name="Text 54"/>
          <p:cNvSpPr/>
          <p:nvPr/>
        </p:nvSpPr>
        <p:spPr>
          <a:xfrm>
            <a:off x="10071072" y="2768583"/>
            <a:ext cx="812786"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95600C"/>
                </a:solidFill>
                <a:latin typeface="Instrument Sans" pitchFamily="34" charset="0"/>
                <a:ea typeface="Instrument Sans" pitchFamily="34" charset="-122"/>
                <a:cs typeface="Instrument Sans" pitchFamily="34" charset="-120"/>
              </a:rPr>
              <a:t>12,924</a:t>
            </a:r>
            <a:endParaRPr lang="en-US" sz="1200" dirty="0"/>
          </a:p>
        </p:txBody>
      </p:sp>
      <p:sp>
        <p:nvSpPr>
          <p:cNvPr id="57" name="Text 55"/>
          <p:cNvSpPr/>
          <p:nvPr/>
        </p:nvSpPr>
        <p:spPr>
          <a:xfrm>
            <a:off x="4546586" y="3981428"/>
            <a:ext cx="812786"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F6FB5"/>
                </a:solidFill>
                <a:latin typeface="Instrument Sans" pitchFamily="34" charset="0"/>
                <a:ea typeface="Instrument Sans" pitchFamily="34" charset="-122"/>
                <a:cs typeface="Instrument Sans" pitchFamily="34" charset="-120"/>
              </a:rPr>
              <a:t>21,080</a:t>
            </a:r>
            <a:endParaRPr lang="en-US" sz="1200" dirty="0"/>
          </a:p>
        </p:txBody>
      </p:sp>
      <p:sp>
        <p:nvSpPr>
          <p:cNvPr id="58" name="Text 56"/>
          <p:cNvSpPr/>
          <p:nvPr/>
        </p:nvSpPr>
        <p:spPr>
          <a:xfrm>
            <a:off x="8966195" y="4216384"/>
            <a:ext cx="812786"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F6FB5"/>
                </a:solidFill>
                <a:latin typeface="Instrument Sans" pitchFamily="34" charset="0"/>
                <a:ea typeface="Instrument Sans" pitchFamily="34" charset="-122"/>
                <a:cs typeface="Instrument Sans" pitchFamily="34" charset="-120"/>
              </a:rPr>
              <a:t>16,664</a:t>
            </a:r>
            <a:endParaRPr lang="en-US" sz="1200" dirty="0"/>
          </a:p>
        </p:txBody>
      </p:sp>
      <p:sp>
        <p:nvSpPr>
          <p:cNvPr id="59" name="Text 57"/>
          <p:cNvSpPr/>
          <p:nvPr/>
        </p:nvSpPr>
        <p:spPr>
          <a:xfrm>
            <a:off x="10071072" y="4076686"/>
            <a:ext cx="812786"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F6FB5"/>
                </a:solidFill>
                <a:latin typeface="Instrument Sans" pitchFamily="34" charset="0"/>
                <a:ea typeface="Instrument Sans" pitchFamily="34" charset="-122"/>
                <a:cs typeface="Instrument Sans" pitchFamily="34" charset="-120"/>
              </a:rPr>
              <a:t>19,261</a:t>
            </a:r>
            <a:endParaRPr lang="en-US" sz="1200" dirty="0"/>
          </a:p>
        </p:txBody>
      </p:sp>
      <p:sp>
        <p:nvSpPr>
          <p:cNvPr id="60" name="Text 58"/>
          <p:cNvSpPr/>
          <p:nvPr/>
        </p:nvSpPr>
        <p:spPr>
          <a:xfrm>
            <a:off x="4800593"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J</a:t>
            </a:r>
            <a:endParaRPr lang="en-US" sz="1200" dirty="0"/>
          </a:p>
        </p:txBody>
      </p:sp>
      <p:sp>
        <p:nvSpPr>
          <p:cNvPr id="61" name="Text 59"/>
          <p:cNvSpPr/>
          <p:nvPr/>
        </p:nvSpPr>
        <p:spPr>
          <a:xfrm>
            <a:off x="5168839"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F</a:t>
            </a:r>
            <a:endParaRPr lang="en-US" sz="1200" dirty="0"/>
          </a:p>
        </p:txBody>
      </p:sp>
      <p:sp>
        <p:nvSpPr>
          <p:cNvPr id="62" name="Text 60"/>
          <p:cNvSpPr/>
          <p:nvPr/>
        </p:nvSpPr>
        <p:spPr>
          <a:xfrm>
            <a:off x="5537085"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M</a:t>
            </a:r>
            <a:endParaRPr lang="en-US" sz="1200" dirty="0"/>
          </a:p>
        </p:txBody>
      </p:sp>
      <p:sp>
        <p:nvSpPr>
          <p:cNvPr id="63" name="Text 61"/>
          <p:cNvSpPr/>
          <p:nvPr/>
        </p:nvSpPr>
        <p:spPr>
          <a:xfrm>
            <a:off x="5905332"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A</a:t>
            </a:r>
            <a:endParaRPr lang="en-US" sz="1200" dirty="0"/>
          </a:p>
        </p:txBody>
      </p:sp>
      <p:sp>
        <p:nvSpPr>
          <p:cNvPr id="64" name="Text 62"/>
          <p:cNvSpPr/>
          <p:nvPr/>
        </p:nvSpPr>
        <p:spPr>
          <a:xfrm>
            <a:off x="6273578"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M</a:t>
            </a:r>
            <a:endParaRPr lang="en-US" sz="1200" dirty="0"/>
          </a:p>
        </p:txBody>
      </p:sp>
      <p:sp>
        <p:nvSpPr>
          <p:cNvPr id="65" name="Text 63"/>
          <p:cNvSpPr/>
          <p:nvPr/>
        </p:nvSpPr>
        <p:spPr>
          <a:xfrm>
            <a:off x="6641824"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J</a:t>
            </a:r>
            <a:endParaRPr lang="en-US" sz="1200" dirty="0"/>
          </a:p>
        </p:txBody>
      </p:sp>
      <p:sp>
        <p:nvSpPr>
          <p:cNvPr id="66" name="Text 64"/>
          <p:cNvSpPr/>
          <p:nvPr/>
        </p:nvSpPr>
        <p:spPr>
          <a:xfrm>
            <a:off x="7010071"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J</a:t>
            </a:r>
            <a:endParaRPr lang="en-US" sz="1200" dirty="0"/>
          </a:p>
        </p:txBody>
      </p:sp>
      <p:sp>
        <p:nvSpPr>
          <p:cNvPr id="67" name="Text 65"/>
          <p:cNvSpPr/>
          <p:nvPr/>
        </p:nvSpPr>
        <p:spPr>
          <a:xfrm>
            <a:off x="7378316"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A</a:t>
            </a:r>
            <a:endParaRPr lang="en-US" sz="1200" dirty="0"/>
          </a:p>
        </p:txBody>
      </p:sp>
      <p:sp>
        <p:nvSpPr>
          <p:cNvPr id="68" name="Text 66"/>
          <p:cNvSpPr/>
          <p:nvPr/>
        </p:nvSpPr>
        <p:spPr>
          <a:xfrm>
            <a:off x="7746563"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S</a:t>
            </a:r>
            <a:endParaRPr lang="en-US" sz="1200" dirty="0"/>
          </a:p>
        </p:txBody>
      </p:sp>
      <p:sp>
        <p:nvSpPr>
          <p:cNvPr id="69" name="Text 67"/>
          <p:cNvSpPr/>
          <p:nvPr/>
        </p:nvSpPr>
        <p:spPr>
          <a:xfrm>
            <a:off x="8114809"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O</a:t>
            </a:r>
            <a:endParaRPr lang="en-US" sz="1200" dirty="0"/>
          </a:p>
        </p:txBody>
      </p:sp>
      <p:sp>
        <p:nvSpPr>
          <p:cNvPr id="70" name="Text 68"/>
          <p:cNvSpPr/>
          <p:nvPr/>
        </p:nvSpPr>
        <p:spPr>
          <a:xfrm>
            <a:off x="8483055"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N</a:t>
            </a:r>
            <a:endParaRPr lang="en-US" sz="1200" dirty="0"/>
          </a:p>
        </p:txBody>
      </p:sp>
      <p:sp>
        <p:nvSpPr>
          <p:cNvPr id="71" name="Text 69"/>
          <p:cNvSpPr/>
          <p:nvPr/>
        </p:nvSpPr>
        <p:spPr>
          <a:xfrm>
            <a:off x="8851302"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D</a:t>
            </a:r>
            <a:endParaRPr lang="en-US" sz="1200" dirty="0"/>
          </a:p>
        </p:txBody>
      </p:sp>
      <p:sp>
        <p:nvSpPr>
          <p:cNvPr id="72" name="Text 70"/>
          <p:cNvSpPr/>
          <p:nvPr/>
        </p:nvSpPr>
        <p:spPr>
          <a:xfrm>
            <a:off x="9219548"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J</a:t>
            </a:r>
            <a:endParaRPr lang="en-US" sz="1200" dirty="0"/>
          </a:p>
        </p:txBody>
      </p:sp>
      <p:sp>
        <p:nvSpPr>
          <p:cNvPr id="73" name="Text 71"/>
          <p:cNvSpPr/>
          <p:nvPr/>
        </p:nvSpPr>
        <p:spPr>
          <a:xfrm>
            <a:off x="9587794"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F</a:t>
            </a:r>
            <a:endParaRPr lang="en-US" sz="1200" dirty="0"/>
          </a:p>
        </p:txBody>
      </p:sp>
      <p:sp>
        <p:nvSpPr>
          <p:cNvPr id="74" name="Text 72"/>
          <p:cNvSpPr/>
          <p:nvPr/>
        </p:nvSpPr>
        <p:spPr>
          <a:xfrm>
            <a:off x="9956040"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M</a:t>
            </a:r>
            <a:endParaRPr lang="en-US" sz="1200" dirty="0"/>
          </a:p>
        </p:txBody>
      </p:sp>
      <p:sp>
        <p:nvSpPr>
          <p:cNvPr id="75" name="Text 73"/>
          <p:cNvSpPr/>
          <p:nvPr/>
        </p:nvSpPr>
        <p:spPr>
          <a:xfrm>
            <a:off x="10324287"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A</a:t>
            </a:r>
            <a:endParaRPr lang="en-US" sz="1200" dirty="0"/>
          </a:p>
        </p:txBody>
      </p:sp>
      <p:sp>
        <p:nvSpPr>
          <p:cNvPr id="76" name="Text 74"/>
          <p:cNvSpPr/>
          <p:nvPr/>
        </p:nvSpPr>
        <p:spPr>
          <a:xfrm>
            <a:off x="10692533"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M</a:t>
            </a:r>
            <a:endParaRPr lang="en-US" sz="1200" dirty="0"/>
          </a:p>
        </p:txBody>
      </p:sp>
      <p:sp>
        <p:nvSpPr>
          <p:cNvPr id="77" name="Text 75"/>
          <p:cNvSpPr/>
          <p:nvPr/>
        </p:nvSpPr>
        <p:spPr>
          <a:xfrm>
            <a:off x="11060779" y="5410178"/>
            <a:ext cx="304772" cy="23875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J</a:t>
            </a:r>
            <a:endParaRPr lang="en-US" sz="1200" dirty="0"/>
          </a:p>
        </p:txBody>
      </p:sp>
      <p:sp>
        <p:nvSpPr>
          <p:cNvPr id="78" name="Text 76"/>
          <p:cNvSpPr/>
          <p:nvPr/>
        </p:nvSpPr>
        <p:spPr>
          <a:xfrm>
            <a:off x="4825993" y="5613371"/>
            <a:ext cx="685800"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A"/>
                </a:solidFill>
                <a:latin typeface="Instrument Sans" pitchFamily="34" charset="0"/>
                <a:ea typeface="Instrument Sans" pitchFamily="34" charset="-122"/>
                <a:cs typeface="Instrument Sans" pitchFamily="34" charset="-120"/>
              </a:rPr>
              <a:t>2025</a:t>
            </a:r>
            <a:endParaRPr lang="en-US" sz="1200" dirty="0"/>
          </a:p>
        </p:txBody>
      </p:sp>
      <p:sp>
        <p:nvSpPr>
          <p:cNvPr id="79" name="Text 77"/>
          <p:cNvSpPr/>
          <p:nvPr/>
        </p:nvSpPr>
        <p:spPr>
          <a:xfrm>
            <a:off x="9245568" y="5613371"/>
            <a:ext cx="685800"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A"/>
                </a:solidFill>
                <a:latin typeface="Instrument Sans" pitchFamily="34" charset="0"/>
                <a:ea typeface="Instrument Sans" pitchFamily="34" charset="-122"/>
                <a:cs typeface="Instrument Sans" pitchFamily="34" charset="-120"/>
              </a:rPr>
              <a:t>2026</a:t>
            </a:r>
            <a:endParaRPr lang="en-US" sz="1200" dirty="0"/>
          </a:p>
        </p:txBody>
      </p:sp>
      <p:sp>
        <p:nvSpPr>
          <p:cNvPr id="80" name="Text 78"/>
          <p:cNvSpPr/>
          <p:nvPr/>
        </p:nvSpPr>
        <p:spPr>
          <a:xfrm>
            <a:off x="812767" y="6238241"/>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Bookings per month by visit date, six cities, January 2025 to June 2026</a:t>
            </a:r>
            <a:endParaRPr lang="en-US" sz="1200" dirty="0"/>
          </a:p>
        </p:txBody>
      </p:sp>
      <p:sp>
        <p:nvSpPr>
          <p:cNvPr id="81" name="Shape 79"/>
          <p:cNvSpPr/>
          <p:nvPr/>
        </p:nvSpPr>
        <p:spPr>
          <a:xfrm>
            <a:off x="8991595" y="6337289"/>
            <a:ext cx="2387589" cy="38068"/>
          </a:xfrm>
          <a:prstGeom prst="rect">
            <a:avLst/>
          </a:prstGeom>
          <a:gradFill rotWithShape="1">
            <a:gsLst>
              <a:gs pos="0">
                <a:srgbClr val="D9D2C3"/>
              </a:gs>
              <a:gs pos="87500">
                <a:srgbClr val="D9D2C3"/>
              </a:gs>
              <a:gs pos="87500">
                <a:srgbClr val="D9D2C3">
                  <a:alpha val="0"/>
                </a:srgbClr>
              </a:gs>
              <a:gs pos="100000">
                <a:srgbClr val="000000">
                  <a:alpha val="0"/>
                </a:srgbClr>
              </a:gs>
            </a:gsLst>
            <a:lin ang="0" scaled="0"/>
          </a:gradFill>
          <a:ln/>
        </p:spPr>
      </p:sp>
      <p:sp>
        <p:nvSpPr>
          <p:cNvPr id="82" name="Shape 80"/>
          <p:cNvSpPr/>
          <p:nvPr/>
        </p:nvSpPr>
        <p:spPr>
          <a:xfrm>
            <a:off x="10210781" y="6337289"/>
            <a:ext cx="355568" cy="38068"/>
          </a:xfrm>
          <a:prstGeom prst="roundRect">
            <a:avLst>
              <a:gd name="adj" fmla="val 50000"/>
            </a:avLst>
          </a:prstGeom>
          <a:solidFill>
            <a:srgbClr val="D08A1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6DA"/>
        </a:solidFill>
      </p:bgPr>
    </p:bg>
    <p:spTree>
      <p:nvGrpSpPr>
        <p:cNvPr id="1" name=""/>
        <p:cNvGrpSpPr/>
        <p:nvPr/>
      </p:nvGrpSpPr>
      <p:grpSpPr>
        <a:xfrm>
          <a:off x="0" y="0"/>
          <a:ext cx="0" cy="0"/>
          <a:chOff x="0" y="0"/>
          <a:chExt cx="0" cy="0"/>
        </a:xfrm>
      </p:grpSpPr>
      <p:sp>
        <p:nvSpPr>
          <p:cNvPr id="2" name="Text 0"/>
          <p:cNvSpPr/>
          <p:nvPr/>
        </p:nvSpPr>
        <p:spPr>
          <a:xfrm>
            <a:off x="812767" y="812766"/>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05 · THE CAVEAT AND THE APPROACH WE REJECTED</a:t>
            </a:r>
            <a:endParaRPr lang="en-US" sz="1200" dirty="0"/>
          </a:p>
        </p:txBody>
      </p:sp>
      <p:sp>
        <p:nvSpPr>
          <p:cNvPr id="3" name="Text 1"/>
          <p:cNvSpPr/>
          <p:nvPr>
            <p:ph type="title"/>
          </p:nvPr>
        </p:nvSpPr>
        <p:spPr>
          <a:xfrm>
            <a:off x="812767" y="1127717"/>
            <a:ext cx="10883445" cy="558804"/>
          </a:xfrm>
          <a:prstGeom prst="rect">
            <a:avLst/>
          </a:prstGeom>
          <a:noFill/>
          <a:ln/>
        </p:spPr>
        <p:txBody>
          <a:bodyPr wrap="square" lIns="0" tIns="0" rIns="0" bIns="0" rtlCol="0" anchor="t">
            <a:normAutofit/>
          </a:bodyPr>
          <a:lstStyle/>
          <a:p>
            <a:pPr algn="l" indent="0" marL="0">
              <a:lnSpc>
                <a:spcPts val="4200"/>
              </a:lnSpc>
              <a:buNone/>
            </a:pPr>
            <a:r>
              <a:rPr lang="en-US" sz="4000" b="0" i="0" spc="-50" kern="0" dirty="0">
                <a:solidFill>
                  <a:srgbClr val="17222A"/>
                </a:solidFill>
                <a:latin typeface="Instrument Serif" pitchFamily="18" charset="0"/>
                <a:ea typeface="Instrument Serif" pitchFamily="18" charset="-122"/>
                <a:cs typeface="Instrument Serif" pitchFamily="18" charset="-120"/>
              </a:rPr>
              <a:t>What could change it, and what we set aside</a:t>
            </a:r>
            <a:endParaRPr lang="en-US" sz="4000" dirty="0"/>
          </a:p>
        </p:txBody>
      </p:sp>
      <p:sp>
        <p:nvSpPr>
          <p:cNvPr id="4" name="Text 2"/>
          <p:cNvSpPr/>
          <p:nvPr/>
        </p:nvSpPr>
        <p:spPr>
          <a:xfrm>
            <a:off x="812767" y="184147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5C"/>
                </a:solidFill>
                <a:latin typeface="Instrument Sans" pitchFamily="34" charset="0"/>
                <a:ea typeface="Instrument Sans" pitchFamily="34" charset="-122"/>
                <a:cs typeface="Instrument Sans" pitchFamily="34" charset="-120"/>
              </a:rPr>
              <a:t>Seven estimates of the extra bookings in Q1 2026</a:t>
            </a:r>
            <a:endParaRPr lang="en-US" sz="1200" dirty="0"/>
          </a:p>
        </p:txBody>
      </p:sp>
      <p:sp>
        <p:nvSpPr>
          <p:cNvPr id="5" name="Text 3"/>
          <p:cNvSpPr/>
          <p:nvPr/>
        </p:nvSpPr>
        <p:spPr>
          <a:xfrm>
            <a:off x="8108935" y="1841472"/>
            <a:ext cx="327025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25C"/>
                </a:solidFill>
                <a:latin typeface="Instrument Sans" pitchFamily="34" charset="0"/>
                <a:ea typeface="Instrument Sans" pitchFamily="34" charset="-122"/>
                <a:cs typeface="Instrument Sans" pitchFamily="34" charset="-120"/>
              </a:rPr>
              <a:t>Filled: kept · Hollow: set aside</a:t>
            </a:r>
            <a:endParaRPr lang="en-US" sz="1200" dirty="0"/>
          </a:p>
        </p:txBody>
      </p:sp>
      <p:sp>
        <p:nvSpPr>
          <p:cNvPr id="6" name="Shape 4"/>
          <p:cNvSpPr/>
          <p:nvPr/>
        </p:nvSpPr>
        <p:spPr>
          <a:xfrm>
            <a:off x="1015993" y="2978147"/>
            <a:ext cx="10160000" cy="12678"/>
          </a:xfrm>
          <a:prstGeom prst="rect">
            <a:avLst/>
          </a:prstGeom>
          <a:solidFill>
            <a:srgbClr val="B8AE9C"/>
          </a:solidFill>
          <a:ln/>
        </p:spPr>
      </p:sp>
      <p:sp>
        <p:nvSpPr>
          <p:cNvPr id="7" name="Shape 5"/>
          <p:cNvSpPr/>
          <p:nvPr/>
        </p:nvSpPr>
        <p:spPr>
          <a:xfrm>
            <a:off x="2203448" y="2940044"/>
            <a:ext cx="2095479" cy="88883"/>
          </a:xfrm>
          <a:prstGeom prst="roundRect">
            <a:avLst>
              <a:gd name="adj" fmla="val 50000"/>
            </a:avLst>
          </a:prstGeom>
          <a:solidFill>
            <a:srgbClr val="D08A1E">
              <a:alpha val="35000"/>
            </a:srgbClr>
          </a:solidFill>
          <a:ln/>
        </p:spPr>
      </p:sp>
      <p:sp>
        <p:nvSpPr>
          <p:cNvPr id="8" name="Text 6"/>
          <p:cNvSpPr/>
          <p:nvPr/>
        </p:nvSpPr>
        <p:spPr>
          <a:xfrm>
            <a:off x="939788" y="3098794"/>
            <a:ext cx="431793"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0</a:t>
            </a:r>
            <a:endParaRPr lang="en-US" sz="1200" dirty="0"/>
          </a:p>
        </p:txBody>
      </p:sp>
      <p:sp>
        <p:nvSpPr>
          <p:cNvPr id="9" name="Text 7"/>
          <p:cNvSpPr/>
          <p:nvPr/>
        </p:nvSpPr>
        <p:spPr>
          <a:xfrm>
            <a:off x="10109200" y="3098794"/>
            <a:ext cx="1269985"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15,000</a:t>
            </a:r>
            <a:endParaRPr lang="en-US" sz="1200" dirty="0"/>
          </a:p>
        </p:txBody>
      </p:sp>
      <p:sp>
        <p:nvSpPr>
          <p:cNvPr id="10" name="Shape 8"/>
          <p:cNvSpPr/>
          <p:nvPr/>
        </p:nvSpPr>
        <p:spPr>
          <a:xfrm>
            <a:off x="2114531" y="2895569"/>
            <a:ext cx="177767" cy="177767"/>
          </a:xfrm>
          <a:prstGeom prst="roundRect">
            <a:avLst>
              <a:gd name="adj" fmla="val 50000"/>
            </a:avLst>
          </a:prstGeom>
          <a:solidFill>
            <a:srgbClr val="D08A1E"/>
          </a:solidFill>
          <a:ln/>
        </p:spPr>
      </p:sp>
      <p:sp>
        <p:nvSpPr>
          <p:cNvPr id="11" name="Text 9"/>
          <p:cNvSpPr/>
          <p:nvPr/>
        </p:nvSpPr>
        <p:spPr>
          <a:xfrm>
            <a:off x="1479521" y="2225015"/>
            <a:ext cx="1447786" cy="619782"/>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7222A"/>
                </a:solidFill>
                <a:latin typeface="Instrument Sans" pitchFamily="34" charset="0"/>
                <a:ea typeface="Instrument Sans" pitchFamily="34" charset="-122"/>
                <a:cs typeface="Instrument Sans" pitchFamily="34" charset="-120"/>
              </a:rPr>
              <a:t>1,755</a:t>
            </a:r>
            <a:endParaRPr lang="en-US" sz="1200" dirty="0"/>
          </a:p>
          <a:p>
            <a:pPr algn="ctr" indent="0" marL="0">
              <a:lnSpc>
                <a:spcPts val="1560"/>
              </a:lnSpc>
              <a:buNone/>
            </a:pPr>
            <a:r>
              <a:rPr lang="en-US" sz="1200" dirty="0">
                <a:solidFill>
                  <a:srgbClr val="46525C"/>
                </a:solidFill>
                <a:latin typeface="Instrument Sans" pitchFamily="34" charset="0"/>
                <a:ea typeface="Instrument Sans" pitchFamily="34" charset="-122"/>
                <a:cs typeface="Instrument Sans" pitchFamily="34" charset="-120"/>
              </a:rPr>
              <a:t>Q2 2026 with 2025’s season</a:t>
            </a:r>
            <a:endParaRPr lang="en-US" sz="1200" dirty="0"/>
          </a:p>
        </p:txBody>
      </p:sp>
      <p:sp>
        <p:nvSpPr>
          <p:cNvPr id="12" name="Shape 10"/>
          <p:cNvSpPr/>
          <p:nvPr/>
        </p:nvSpPr>
        <p:spPr>
          <a:xfrm>
            <a:off x="3244832" y="2844788"/>
            <a:ext cx="279397" cy="279397"/>
          </a:xfrm>
          <a:prstGeom prst="roundRect">
            <a:avLst>
              <a:gd name="adj" fmla="val 50000"/>
            </a:avLst>
          </a:prstGeom>
          <a:solidFill>
            <a:srgbClr val="B8432C"/>
          </a:solidFill>
          <a:ln/>
        </p:spPr>
      </p:sp>
      <p:sp>
        <p:nvSpPr>
          <p:cNvPr id="13" name="Text 11"/>
          <p:cNvSpPr/>
          <p:nvPr/>
        </p:nvSpPr>
        <p:spPr>
          <a:xfrm>
            <a:off x="1809724" y="3200391"/>
            <a:ext cx="1701793" cy="421655"/>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B8432C"/>
                </a:solidFill>
                <a:latin typeface="Instrument Sans" pitchFamily="34" charset="0"/>
                <a:ea typeface="Instrument Sans" pitchFamily="34" charset="-122"/>
                <a:cs typeface="Instrument Sans" pitchFamily="34" charset="-120"/>
              </a:rPr>
              <a:t>3,499 central</a:t>
            </a:r>
            <a:endParaRPr lang="en-US" sz="1200" dirty="0"/>
          </a:p>
          <a:p>
            <a:pPr algn="r" indent="0" marL="0">
              <a:lnSpc>
                <a:spcPts val="1560"/>
              </a:lnSpc>
              <a:buNone/>
            </a:pPr>
            <a:r>
              <a:rPr lang="en-US" sz="1200" dirty="0">
                <a:solidFill>
                  <a:srgbClr val="46525C"/>
                </a:solidFill>
                <a:latin typeface="Instrument Sans" pitchFamily="34" charset="0"/>
                <a:ea typeface="Instrument Sans" pitchFamily="34" charset="-122"/>
                <a:cs typeface="Instrument Sans" pitchFamily="34" charset="-120"/>
              </a:rPr>
              <a:t>Same quarter last year</a:t>
            </a:r>
            <a:endParaRPr lang="en-US" sz="1200" dirty="0"/>
          </a:p>
        </p:txBody>
      </p:sp>
      <p:sp>
        <p:nvSpPr>
          <p:cNvPr id="14" name="Shape 12"/>
          <p:cNvSpPr/>
          <p:nvPr/>
        </p:nvSpPr>
        <p:spPr>
          <a:xfrm>
            <a:off x="3771897" y="2895569"/>
            <a:ext cx="177767" cy="177767"/>
          </a:xfrm>
          <a:prstGeom prst="roundRect">
            <a:avLst>
              <a:gd name="adj" fmla="val 50000"/>
            </a:avLst>
          </a:prstGeom>
          <a:solidFill>
            <a:srgbClr val="D08A1E"/>
          </a:solidFill>
          <a:ln/>
        </p:spPr>
      </p:sp>
      <p:sp>
        <p:nvSpPr>
          <p:cNvPr id="15" name="Text 13"/>
          <p:cNvSpPr/>
          <p:nvPr/>
        </p:nvSpPr>
        <p:spPr>
          <a:xfrm>
            <a:off x="3136887" y="2423142"/>
            <a:ext cx="1447786" cy="421655"/>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7222A"/>
                </a:solidFill>
                <a:latin typeface="Instrument Sans" pitchFamily="34" charset="0"/>
                <a:ea typeface="Instrument Sans" pitchFamily="34" charset="-122"/>
                <a:cs typeface="Instrument Sans" pitchFamily="34" charset="-120"/>
              </a:rPr>
              <a:t>4,198</a:t>
            </a:r>
            <a:endParaRPr lang="en-US" sz="1200" dirty="0"/>
          </a:p>
          <a:p>
            <a:pPr algn="ctr" indent="0" marL="0">
              <a:lnSpc>
                <a:spcPts val="1560"/>
              </a:lnSpc>
              <a:buNone/>
            </a:pPr>
            <a:r>
              <a:rPr lang="en-US" sz="1200" dirty="0">
                <a:solidFill>
                  <a:srgbClr val="46525C"/>
                </a:solidFill>
                <a:latin typeface="Instrument Sans" pitchFamily="34" charset="0"/>
                <a:ea typeface="Instrument Sans" pitchFamily="34" charset="-122"/>
                <a:cs typeface="Instrument Sans" pitchFamily="34" charset="-120"/>
              </a:rPr>
              <a:t>Q2 2026 as it is</a:t>
            </a:r>
            <a:endParaRPr lang="en-US" sz="1200" dirty="0"/>
          </a:p>
        </p:txBody>
      </p:sp>
      <p:sp>
        <p:nvSpPr>
          <p:cNvPr id="16" name="Shape 14"/>
          <p:cNvSpPr/>
          <p:nvPr/>
        </p:nvSpPr>
        <p:spPr>
          <a:xfrm>
            <a:off x="4210044" y="2895569"/>
            <a:ext cx="177767" cy="177767"/>
          </a:xfrm>
          <a:prstGeom prst="roundRect">
            <a:avLst>
              <a:gd name="adj" fmla="val 50000"/>
            </a:avLst>
          </a:prstGeom>
          <a:solidFill>
            <a:srgbClr val="D08A1E"/>
          </a:solidFill>
          <a:ln/>
        </p:spPr>
      </p:sp>
      <p:sp>
        <p:nvSpPr>
          <p:cNvPr id="17" name="Text 15"/>
          <p:cNvSpPr/>
          <p:nvPr/>
        </p:nvSpPr>
        <p:spPr>
          <a:xfrm>
            <a:off x="4171941" y="3200391"/>
            <a:ext cx="1701793" cy="421655"/>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7222A"/>
                </a:solidFill>
                <a:latin typeface="Instrument Sans" pitchFamily="34" charset="0"/>
                <a:ea typeface="Instrument Sans" pitchFamily="34" charset="-122"/>
                <a:cs typeface="Instrument Sans" pitchFamily="34" charset="-120"/>
              </a:rPr>
              <a:t>4,842</a:t>
            </a:r>
            <a:endParaRPr lang="en-US" sz="1200" dirty="0"/>
          </a:p>
          <a:p>
            <a:pPr algn="l" indent="0" marL="0">
              <a:lnSpc>
                <a:spcPts val="1560"/>
              </a:lnSpc>
              <a:buNone/>
            </a:pPr>
            <a:r>
              <a:rPr lang="en-US" sz="1200" dirty="0">
                <a:solidFill>
                  <a:srgbClr val="46525C"/>
                </a:solidFill>
                <a:latin typeface="Instrument Sans" pitchFamily="34" charset="0"/>
                <a:ea typeface="Instrument Sans" pitchFamily="34" charset="-122"/>
                <a:cs typeface="Instrument Sans" pitchFamily="34" charset="-120"/>
              </a:rPr>
              <a:t>Grid minus placebo</a:t>
            </a:r>
            <a:endParaRPr lang="en-US" sz="1200" dirty="0"/>
          </a:p>
        </p:txBody>
      </p:sp>
      <p:sp>
        <p:nvSpPr>
          <p:cNvPr id="18" name="Shape 16"/>
          <p:cNvSpPr/>
          <p:nvPr/>
        </p:nvSpPr>
        <p:spPr>
          <a:xfrm>
            <a:off x="7673966" y="2905094"/>
            <a:ext cx="158717" cy="158717"/>
          </a:xfrm>
          <a:prstGeom prst="roundRect">
            <a:avLst>
              <a:gd name="adj" fmla="val 50000"/>
            </a:avLst>
          </a:prstGeom>
          <a:solidFill>
            <a:srgbClr val="ECE6DA"/>
          </a:solidFill>
          <a:ln w="19050">
            <a:solidFill>
              <a:srgbClr val="5E6973"/>
            </a:solidFill>
            <a:prstDash val="solid"/>
          </a:ln>
        </p:spPr>
      </p:sp>
      <p:sp>
        <p:nvSpPr>
          <p:cNvPr id="19" name="Text 17"/>
          <p:cNvSpPr/>
          <p:nvPr/>
        </p:nvSpPr>
        <p:spPr>
          <a:xfrm>
            <a:off x="6965938" y="2423142"/>
            <a:ext cx="1574772" cy="421655"/>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7222A"/>
                </a:solidFill>
                <a:latin typeface="Instrument Sans" pitchFamily="34" charset="0"/>
                <a:ea typeface="Instrument Sans" pitchFamily="34" charset="-122"/>
                <a:cs typeface="Instrument Sans" pitchFamily="34" charset="-120"/>
              </a:rPr>
              <a:t>9,947</a:t>
            </a:r>
            <a:endParaRPr lang="en-US" sz="1200" dirty="0"/>
          </a:p>
          <a:p>
            <a:pPr algn="ctr" indent="0" marL="0">
              <a:lnSpc>
                <a:spcPts val="1560"/>
              </a:lnSpc>
              <a:buNone/>
            </a:pPr>
            <a:r>
              <a:rPr lang="en-US" sz="1200" dirty="0">
                <a:solidFill>
                  <a:srgbClr val="46525C"/>
                </a:solidFill>
                <a:latin typeface="Instrument Sans" pitchFamily="34" charset="0"/>
                <a:ea typeface="Instrument Sans" pitchFamily="34" charset="-122"/>
                <a:cs typeface="Instrument Sans" pitchFamily="34" charset="-120"/>
              </a:rPr>
              <a:t>Previous quarter</a:t>
            </a:r>
            <a:endParaRPr lang="en-US" sz="1200" dirty="0"/>
          </a:p>
        </p:txBody>
      </p:sp>
      <p:sp>
        <p:nvSpPr>
          <p:cNvPr id="20" name="Shape 18"/>
          <p:cNvSpPr/>
          <p:nvPr/>
        </p:nvSpPr>
        <p:spPr>
          <a:xfrm>
            <a:off x="8956644" y="2905094"/>
            <a:ext cx="158717" cy="158717"/>
          </a:xfrm>
          <a:prstGeom prst="roundRect">
            <a:avLst>
              <a:gd name="adj" fmla="val 50000"/>
            </a:avLst>
          </a:prstGeom>
          <a:solidFill>
            <a:srgbClr val="ECE6DA"/>
          </a:solidFill>
          <a:ln w="19050">
            <a:solidFill>
              <a:srgbClr val="5E6973"/>
            </a:solidFill>
            <a:prstDash val="solid"/>
          </a:ln>
        </p:spPr>
      </p:sp>
      <p:sp>
        <p:nvSpPr>
          <p:cNvPr id="21" name="Text 19"/>
          <p:cNvSpPr/>
          <p:nvPr/>
        </p:nvSpPr>
        <p:spPr>
          <a:xfrm>
            <a:off x="8248617" y="3200391"/>
            <a:ext cx="1574772" cy="421655"/>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7222A"/>
                </a:solidFill>
                <a:latin typeface="Instrument Sans" pitchFamily="34" charset="0"/>
                <a:ea typeface="Instrument Sans" pitchFamily="34" charset="-122"/>
                <a:cs typeface="Instrument Sans" pitchFamily="34" charset="-120"/>
              </a:rPr>
              <a:t>11,841</a:t>
            </a:r>
            <a:endParaRPr lang="en-US" sz="1200" dirty="0"/>
          </a:p>
          <a:p>
            <a:pPr algn="ctr" indent="0" marL="0">
              <a:lnSpc>
                <a:spcPts val="1560"/>
              </a:lnSpc>
              <a:buNone/>
            </a:pPr>
            <a:r>
              <a:rPr lang="en-US" sz="1200" dirty="0">
                <a:solidFill>
                  <a:srgbClr val="46525C"/>
                </a:solidFill>
                <a:latin typeface="Instrument Sans" pitchFamily="34" charset="0"/>
                <a:ea typeface="Instrument Sans" pitchFamily="34" charset="-122"/>
                <a:cs typeface="Instrument Sans" pitchFamily="34" charset="-120"/>
              </a:rPr>
              <a:t>2025 trend</a:t>
            </a:r>
            <a:endParaRPr lang="en-US" sz="1200" dirty="0"/>
          </a:p>
        </p:txBody>
      </p:sp>
      <p:sp>
        <p:nvSpPr>
          <p:cNvPr id="22" name="Shape 20"/>
          <p:cNvSpPr/>
          <p:nvPr/>
        </p:nvSpPr>
        <p:spPr>
          <a:xfrm>
            <a:off x="10601299" y="2905094"/>
            <a:ext cx="158717" cy="158717"/>
          </a:xfrm>
          <a:prstGeom prst="roundRect">
            <a:avLst>
              <a:gd name="adj" fmla="val 50000"/>
            </a:avLst>
          </a:prstGeom>
          <a:solidFill>
            <a:srgbClr val="ECE6DA"/>
          </a:solidFill>
          <a:ln w="19050">
            <a:solidFill>
              <a:srgbClr val="5E6973"/>
            </a:solidFill>
            <a:prstDash val="solid"/>
          </a:ln>
        </p:spPr>
      </p:sp>
      <p:sp>
        <p:nvSpPr>
          <p:cNvPr id="23" name="Text 21"/>
          <p:cNvSpPr/>
          <p:nvPr/>
        </p:nvSpPr>
        <p:spPr>
          <a:xfrm>
            <a:off x="9893271" y="2423142"/>
            <a:ext cx="1511279" cy="421655"/>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7222A"/>
                </a:solidFill>
                <a:latin typeface="Instrument Sans" pitchFamily="34" charset="0"/>
                <a:ea typeface="Instrument Sans" pitchFamily="34" charset="-122"/>
                <a:cs typeface="Instrument Sans" pitchFamily="34" charset="-120"/>
              </a:rPr>
              <a:t>14,264</a:t>
            </a:r>
            <a:endParaRPr lang="en-US" sz="1200" dirty="0"/>
          </a:p>
          <a:p>
            <a:pPr algn="ctr" indent="0" marL="0">
              <a:lnSpc>
                <a:spcPts val="1560"/>
              </a:lnSpc>
              <a:buNone/>
            </a:pPr>
            <a:r>
              <a:rPr lang="en-US" sz="1200" dirty="0">
                <a:solidFill>
                  <a:srgbClr val="46525C"/>
                </a:solidFill>
                <a:latin typeface="Instrument Sans" pitchFamily="34" charset="0"/>
                <a:ea typeface="Instrument Sans" pitchFamily="34" charset="-122"/>
                <a:cs typeface="Instrument Sans" pitchFamily="34" charset="-120"/>
              </a:rPr>
              <a:t>Grid, raw</a:t>
            </a:r>
            <a:endParaRPr lang="en-US" sz="1200" dirty="0"/>
          </a:p>
        </p:txBody>
      </p:sp>
      <p:sp>
        <p:nvSpPr>
          <p:cNvPr id="24" name="Shape 22"/>
          <p:cNvSpPr/>
          <p:nvPr/>
        </p:nvSpPr>
        <p:spPr>
          <a:xfrm>
            <a:off x="6089619" y="4063972"/>
            <a:ext cx="12678" cy="1714486"/>
          </a:xfrm>
          <a:prstGeom prst="rect">
            <a:avLst/>
          </a:prstGeom>
          <a:solidFill>
            <a:srgbClr val="D3CABA"/>
          </a:solidFill>
          <a:ln/>
        </p:spPr>
      </p:sp>
      <p:sp>
        <p:nvSpPr>
          <p:cNvPr id="25" name="Text 23"/>
          <p:cNvSpPr/>
          <p:nvPr/>
        </p:nvSpPr>
        <p:spPr>
          <a:xfrm>
            <a:off x="812767" y="4063972"/>
            <a:ext cx="5101568"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WHAT COULD CHANGE IT</a:t>
            </a:r>
            <a:endParaRPr lang="en-US" sz="1200" dirty="0"/>
          </a:p>
        </p:txBody>
      </p:sp>
      <p:sp>
        <p:nvSpPr>
          <p:cNvPr id="26" name="Text 24"/>
          <p:cNvSpPr/>
          <p:nvPr/>
        </p:nvSpPr>
        <p:spPr>
          <a:xfrm>
            <a:off x="812767" y="4353499"/>
            <a:ext cx="5101568" cy="57399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7222A"/>
                </a:solidFill>
                <a:latin typeface="Instrument Sans" pitchFamily="34" charset="0"/>
                <a:ea typeface="Instrument Sans" pitchFamily="34" charset="-122"/>
                <a:cs typeface="Instrument Sans" pitchFamily="34" charset="-120"/>
              </a:rPr>
              <a:t>Our data has one earlier January to compare with, so a normal January jump can’t be measured.</a:t>
            </a:r>
            <a:endParaRPr lang="en-US" sz="1600" dirty="0"/>
          </a:p>
        </p:txBody>
      </p:sp>
      <p:sp>
        <p:nvSpPr>
          <p:cNvPr id="27" name="Text 25"/>
          <p:cNvSpPr/>
          <p:nvPr/>
        </p:nvSpPr>
        <p:spPr>
          <a:xfrm>
            <a:off x="812767" y="4978267"/>
            <a:ext cx="5101568" cy="57399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7222A"/>
                </a:solidFill>
                <a:latin typeface="Instrument Sans" pitchFamily="34" charset="0"/>
                <a:ea typeface="Instrument Sans" pitchFamily="34" charset="-122"/>
                <a:cs typeface="Instrument Sans" pitchFamily="34" charset="-120"/>
              </a:rPr>
              <a:t>Every home booking got the offer, so each estimate rests on a yardstick, not a held-back group.</a:t>
            </a:r>
            <a:endParaRPr lang="en-US" sz="1600" dirty="0"/>
          </a:p>
        </p:txBody>
      </p:sp>
      <p:sp>
        <p:nvSpPr>
          <p:cNvPr id="28" name="Text 26"/>
          <p:cNvSpPr/>
          <p:nvPr/>
        </p:nvSpPr>
        <p:spPr>
          <a:xfrm>
            <a:off x="6426171" y="4063972"/>
            <a:ext cx="5101568"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222A"/>
                </a:solidFill>
                <a:latin typeface="Instrument Sans" pitchFamily="34" charset="0"/>
                <a:ea typeface="Instrument Sans" pitchFamily="34" charset="-122"/>
                <a:cs typeface="Instrument Sans" pitchFamily="34" charset="-120"/>
              </a:rPr>
              <a:t>WHAT WE SET ASIDE, AND WHY</a:t>
            </a:r>
            <a:endParaRPr lang="en-US" sz="1200" dirty="0"/>
          </a:p>
        </p:txBody>
      </p:sp>
      <p:sp>
        <p:nvSpPr>
          <p:cNvPr id="29" name="Text 27"/>
          <p:cNvSpPr/>
          <p:nvPr/>
        </p:nvSpPr>
        <p:spPr>
          <a:xfrm>
            <a:off x="6426171" y="4353499"/>
            <a:ext cx="5101568" cy="57399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7222A"/>
                </a:solidFill>
                <a:latin typeface="Instrument Sans" pitchFamily="34" charset="0"/>
                <a:ea typeface="Instrument Sans" pitchFamily="34" charset="-122"/>
                <a:cs typeface="Instrument Sans" pitchFamily="34" charset="-120"/>
              </a:rPr>
              <a:t>Previous quarter (9,947): after the offer, Q2 2026 stayed 6.4% above Q4 2025.</a:t>
            </a:r>
            <a:endParaRPr lang="en-US" sz="1600" dirty="0"/>
          </a:p>
        </p:txBody>
      </p:sp>
      <p:sp>
        <p:nvSpPr>
          <p:cNvPr id="30" name="Text 28"/>
          <p:cNvSpPr/>
          <p:nvPr/>
        </p:nvSpPr>
        <p:spPr>
          <a:xfrm>
            <a:off x="6426171" y="4978267"/>
            <a:ext cx="5101568" cy="57399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7222A"/>
                </a:solidFill>
                <a:latin typeface="Instrument Sans" pitchFamily="34" charset="0"/>
                <a:ea typeface="Instrument Sans" pitchFamily="34" charset="-122"/>
                <a:cs typeface="Instrument Sans" pitchFamily="34" charset="-120"/>
              </a:rPr>
              <a:t>Offer vs no-offer patients (14,264): finds 9,068–9,816 “extra” in 2025, with no offer.</a:t>
            </a:r>
            <a:endParaRPr lang="en-US" sz="1600" dirty="0"/>
          </a:p>
        </p:txBody>
      </p:sp>
      <p:sp>
        <p:nvSpPr>
          <p:cNvPr id="31" name="Text 29"/>
          <p:cNvSpPr/>
          <p:nvPr/>
        </p:nvSpPr>
        <p:spPr>
          <a:xfrm>
            <a:off x="812767" y="6238239"/>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Kalpa Health · Brief E · The offer</a:t>
            </a:r>
            <a:endParaRPr lang="en-US" sz="1200" dirty="0"/>
          </a:p>
        </p:txBody>
      </p:sp>
      <p:sp>
        <p:nvSpPr>
          <p:cNvPr id="32" name="Shape 30"/>
          <p:cNvSpPr/>
          <p:nvPr/>
        </p:nvSpPr>
        <p:spPr>
          <a:xfrm>
            <a:off x="8991595" y="6337288"/>
            <a:ext cx="2387589" cy="38068"/>
          </a:xfrm>
          <a:prstGeom prst="rect">
            <a:avLst/>
          </a:prstGeom>
          <a:gradFill rotWithShape="1">
            <a:gsLst>
              <a:gs pos="0">
                <a:srgbClr val="D3CABA"/>
              </a:gs>
              <a:gs pos="87500">
                <a:srgbClr val="D3CABA"/>
              </a:gs>
              <a:gs pos="87500">
                <a:srgbClr val="D3CABA">
                  <a:alpha val="0"/>
                </a:srgbClr>
              </a:gs>
              <a:gs pos="100000">
                <a:srgbClr val="000000">
                  <a:alpha val="0"/>
                </a:srgbClr>
              </a:gs>
            </a:gsLst>
            <a:lin ang="0" scaled="0"/>
          </a:gradFill>
          <a:ln/>
        </p:spPr>
      </p:sp>
      <p:sp>
        <p:nvSpPr>
          <p:cNvPr id="33" name="Shape 31"/>
          <p:cNvSpPr/>
          <p:nvPr/>
        </p:nvSpPr>
        <p:spPr>
          <a:xfrm>
            <a:off x="10617198" y="6337288"/>
            <a:ext cx="355568" cy="38068"/>
          </a:xfrm>
          <a:prstGeom prst="roundRect">
            <a:avLst>
              <a:gd name="adj" fmla="val 50000"/>
            </a:avLst>
          </a:prstGeom>
          <a:solidFill>
            <a:srgbClr val="D08A1E"/>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222A"/>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A33A"/>
                </a:solidFill>
                <a:latin typeface="Instrument Sans" pitchFamily="34" charset="0"/>
                <a:ea typeface="Instrument Sans" pitchFamily="34" charset="-122"/>
                <a:cs typeface="Instrument Sans" pitchFamily="34" charset="-120"/>
              </a:rPr>
              <a:t>06 · THE ACTION</a:t>
            </a:r>
            <a:endParaRPr lang="en-US" sz="1200" dirty="0"/>
          </a:p>
        </p:txBody>
      </p:sp>
      <p:sp>
        <p:nvSpPr>
          <p:cNvPr id="3" name="Text 1"/>
          <p:cNvSpPr/>
          <p:nvPr>
            <p:ph type="title"/>
          </p:nvPr>
        </p:nvSpPr>
        <p:spPr>
          <a:xfrm>
            <a:off x="812767" y="1066775"/>
            <a:ext cx="10883374" cy="1295400"/>
          </a:xfrm>
          <a:prstGeom prst="rect">
            <a:avLst/>
          </a:prstGeom>
          <a:noFill/>
          <a:ln/>
        </p:spPr>
        <p:txBody>
          <a:bodyPr wrap="square" lIns="0" tIns="0" rIns="0" bIns="0" rtlCol="0" anchor="t">
            <a:normAutofit/>
          </a:bodyPr>
          <a:lstStyle/>
          <a:p>
            <a:pPr algn="l" indent="0" marL="0">
              <a:lnSpc>
                <a:spcPts val="10000"/>
              </a:lnSpc>
              <a:buNone/>
            </a:pPr>
            <a:r>
              <a:rPr lang="en-US" sz="10000" b="0" i="0" spc="-200" kern="0" dirty="0">
                <a:solidFill>
                  <a:srgbClr val="F1EDE4"/>
                </a:solidFill>
                <a:latin typeface="Instrument Serif" pitchFamily="18" charset="0"/>
                <a:ea typeface="Instrument Serif" pitchFamily="18" charset="-122"/>
                <a:cs typeface="Instrument Serif" pitchFamily="18" charset="-120"/>
              </a:rPr>
              <a:t>Don’t double.</a:t>
            </a:r>
            <a:endParaRPr lang="en-US" sz="10000" dirty="0"/>
          </a:p>
        </p:txBody>
      </p:sp>
      <p:sp>
        <p:nvSpPr>
          <p:cNvPr id="4" name="Text 2"/>
          <p:cNvSpPr/>
          <p:nvPr/>
        </p:nvSpPr>
        <p:spPr>
          <a:xfrm>
            <a:off x="812767" y="2489184"/>
            <a:ext cx="6409668" cy="57399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9C2C9"/>
                </a:solidFill>
                <a:latin typeface="Instrument Sans" pitchFamily="34" charset="0"/>
                <a:ea typeface="Instrument Sans" pitchFamily="34" charset="-122"/>
                <a:cs typeface="Instrument Sans" pitchFamily="34" charset="-120"/>
              </a:rPr>
              <a:t>Hold the budget for one quarter and keep a random 20% of patients out of the offer, so the next answer is clean.</a:t>
            </a:r>
            <a:endParaRPr lang="en-US" sz="1600" dirty="0"/>
          </a:p>
        </p:txBody>
      </p:sp>
      <p:sp>
        <p:nvSpPr>
          <p:cNvPr id="5" name="Shape 3"/>
          <p:cNvSpPr/>
          <p:nvPr/>
        </p:nvSpPr>
        <p:spPr>
          <a:xfrm>
            <a:off x="984229" y="3428972"/>
            <a:ext cx="12678" cy="1270000"/>
          </a:xfrm>
          <a:prstGeom prst="rect">
            <a:avLst/>
          </a:prstGeom>
          <a:solidFill>
            <a:srgbClr val="3A4954"/>
          </a:solidFill>
          <a:ln/>
        </p:spPr>
      </p:sp>
      <p:sp>
        <p:nvSpPr>
          <p:cNvPr id="6" name="Text 4"/>
          <p:cNvSpPr/>
          <p:nvPr/>
        </p:nvSpPr>
        <p:spPr>
          <a:xfrm>
            <a:off x="812767" y="3327378"/>
            <a:ext cx="355568" cy="355568"/>
          </a:xfrm>
          <a:custGeom>
            <a:avLst/>
            <a:gdLst/>
            <a:ahLst/>
            <a:cxnLst/>
            <a:rect l="l" t="t" r="r" b="b"/>
            <a:pathLst>
              <a:path w="355568" h="355568">
                <a:moveTo>
                  <a:pt x="177784" y="0"/>
                </a:moveTo>
                <a:lnTo>
                  <a:pt x="177784" y="0"/>
                </a:lnTo>
                <a:arcTo hR="177784" wR="177784" stAng="16200000" swAng="5400000"/>
                <a:lnTo>
                  <a:pt x="355568" y="177784"/>
                </a:lnTo>
                <a:arcTo hR="177784" wR="177784" stAng="0" swAng="5400000"/>
                <a:lnTo>
                  <a:pt x="177784" y="355568"/>
                </a:lnTo>
                <a:arcTo hR="177784" wR="177784" stAng="5400000" swAng="5400000"/>
                <a:lnTo>
                  <a:pt x="0" y="177784"/>
                </a:lnTo>
                <a:arcTo hR="177784" wR="177784" stAng="10800000" swAng="5400000"/>
                <a:close/>
              </a:path>
            </a:pathLst>
          </a:custGeom>
          <a:solidFill>
            <a:srgbClr val="E3A33A"/>
          </a:solidFill>
          <a:ln/>
        </p:spPr>
        <p:txBody>
          <a:bodyPr wrap="square" lIns="0" tIns="0" rIns="0" bIns="0" rtlCol="0" anchor="t">
            <a:normAutofit/>
          </a:bodyPr>
          <a:lstStyle/>
          <a:p>
            <a:pPr algn="ctr" indent="0" marL="0">
              <a:lnSpc>
                <a:spcPts val="2796"/>
              </a:lnSpc>
              <a:buNone/>
            </a:pPr>
            <a:r>
              <a:rPr lang="en-US" sz="1200" b="1" dirty="0">
                <a:solidFill>
                  <a:srgbClr val="17222A"/>
                </a:solidFill>
                <a:latin typeface="Instrument Sans" pitchFamily="34" charset="0"/>
                <a:ea typeface="Instrument Sans" pitchFamily="34" charset="-122"/>
                <a:cs typeface="Instrument Sans" pitchFamily="34" charset="-120"/>
              </a:rPr>
              <a:t>1</a:t>
            </a:r>
            <a:endParaRPr lang="en-US" sz="1200" dirty="0"/>
          </a:p>
        </p:txBody>
      </p:sp>
      <p:sp>
        <p:nvSpPr>
          <p:cNvPr id="7" name="Text 5"/>
          <p:cNvSpPr/>
          <p:nvPr/>
        </p:nvSpPr>
        <p:spPr>
          <a:xfrm>
            <a:off x="1320712" y="3272774"/>
            <a:ext cx="5886485" cy="279372"/>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1EDE4"/>
                </a:solidFill>
                <a:latin typeface="Instrument Sans" pitchFamily="34" charset="0"/>
                <a:ea typeface="Instrument Sans" pitchFamily="34" charset="-122"/>
                <a:cs typeface="Instrument Sans" pitchFamily="34" charset="-120"/>
              </a:rPr>
              <a:t>Hold back 20% of patients</a:t>
            </a:r>
            <a:endParaRPr lang="en-US" sz="1600" dirty="0"/>
          </a:p>
        </p:txBody>
      </p:sp>
      <p:sp>
        <p:nvSpPr>
          <p:cNvPr id="8" name="Text 6"/>
          <p:cNvSpPr/>
          <p:nvPr/>
        </p:nvSpPr>
        <p:spPr>
          <a:xfrm>
            <a:off x="1320712" y="3539424"/>
            <a:ext cx="5886485" cy="22352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9C2C9"/>
                </a:solidFill>
                <a:latin typeface="Instrument Sans" pitchFamily="34" charset="0"/>
                <a:ea typeface="Instrument Sans" pitchFamily="34" charset="-122"/>
                <a:cs typeface="Instrument Sans" pitchFamily="34" charset="-120"/>
              </a:rPr>
              <a:t>chosen at random; they keep paying the ₹150 fee</a:t>
            </a:r>
            <a:endParaRPr lang="en-US" sz="1200" dirty="0"/>
          </a:p>
        </p:txBody>
      </p:sp>
      <p:sp>
        <p:nvSpPr>
          <p:cNvPr id="9" name="Text 7"/>
          <p:cNvSpPr/>
          <p:nvPr/>
        </p:nvSpPr>
        <p:spPr>
          <a:xfrm>
            <a:off x="812767" y="3962378"/>
            <a:ext cx="355568" cy="355568"/>
          </a:xfrm>
          <a:custGeom>
            <a:avLst/>
            <a:gdLst/>
            <a:ahLst/>
            <a:cxnLst/>
            <a:rect l="l" t="t" r="r" b="b"/>
            <a:pathLst>
              <a:path w="355568" h="355568">
                <a:moveTo>
                  <a:pt x="177784" y="0"/>
                </a:moveTo>
                <a:lnTo>
                  <a:pt x="177784" y="0"/>
                </a:lnTo>
                <a:arcTo hR="177784" wR="177784" stAng="16200000" swAng="5400000"/>
                <a:lnTo>
                  <a:pt x="355568" y="177784"/>
                </a:lnTo>
                <a:arcTo hR="177784" wR="177784" stAng="0" swAng="5400000"/>
                <a:lnTo>
                  <a:pt x="177784" y="355568"/>
                </a:lnTo>
                <a:arcTo hR="177784" wR="177784" stAng="5400000" swAng="5400000"/>
                <a:lnTo>
                  <a:pt x="0" y="177784"/>
                </a:lnTo>
                <a:arcTo hR="177784" wR="177784" stAng="10800000" swAng="5400000"/>
                <a:close/>
              </a:path>
            </a:pathLst>
          </a:custGeom>
          <a:solidFill>
            <a:srgbClr val="E3A33A"/>
          </a:solidFill>
          <a:ln/>
        </p:spPr>
        <p:txBody>
          <a:bodyPr wrap="square" lIns="0" tIns="0" rIns="0" bIns="0" rtlCol="0" anchor="t">
            <a:normAutofit/>
          </a:bodyPr>
          <a:lstStyle/>
          <a:p>
            <a:pPr algn="ctr" indent="0" marL="0">
              <a:lnSpc>
                <a:spcPts val="2796"/>
              </a:lnSpc>
              <a:buNone/>
            </a:pPr>
            <a:r>
              <a:rPr lang="en-US" sz="1200" b="1" dirty="0">
                <a:solidFill>
                  <a:srgbClr val="17222A"/>
                </a:solidFill>
                <a:latin typeface="Instrument Sans" pitchFamily="34" charset="0"/>
                <a:ea typeface="Instrument Sans" pitchFamily="34" charset="-122"/>
                <a:cs typeface="Instrument Sans" pitchFamily="34" charset="-120"/>
              </a:rPr>
              <a:t>2</a:t>
            </a:r>
            <a:endParaRPr lang="en-US" sz="1200" dirty="0"/>
          </a:p>
        </p:txBody>
      </p:sp>
      <p:sp>
        <p:nvSpPr>
          <p:cNvPr id="10" name="Text 8"/>
          <p:cNvSpPr/>
          <p:nvPr/>
        </p:nvSpPr>
        <p:spPr>
          <a:xfrm>
            <a:off x="1320712" y="3907774"/>
            <a:ext cx="5886485" cy="279372"/>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1EDE4"/>
                </a:solidFill>
                <a:latin typeface="Instrument Sans" pitchFamily="34" charset="0"/>
                <a:ea typeface="Instrument Sans" pitchFamily="34" charset="-122"/>
                <a:cs typeface="Instrument Sans" pitchFamily="34" charset="-120"/>
              </a:rPr>
              <a:t>Run it for one quarter</a:t>
            </a:r>
            <a:endParaRPr lang="en-US" sz="1600" dirty="0"/>
          </a:p>
        </p:txBody>
      </p:sp>
      <p:sp>
        <p:nvSpPr>
          <p:cNvPr id="11" name="Text 9"/>
          <p:cNvSpPr/>
          <p:nvPr/>
        </p:nvSpPr>
        <p:spPr>
          <a:xfrm>
            <a:off x="1320712" y="4174424"/>
            <a:ext cx="5886485" cy="22352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9C2C9"/>
                </a:solidFill>
                <a:latin typeface="Instrument Sans" pitchFamily="34" charset="0"/>
                <a:ea typeface="Instrument Sans" pitchFamily="34" charset="-122"/>
                <a:cs typeface="Instrument Sans" pitchFamily="34" charset="-120"/>
              </a:rPr>
              <a:t>about ₹59 lakh in waived fees (80% of ₹73.3 lakh)</a:t>
            </a:r>
            <a:endParaRPr lang="en-US" sz="1200" dirty="0"/>
          </a:p>
        </p:txBody>
      </p:sp>
      <p:sp>
        <p:nvSpPr>
          <p:cNvPr id="12" name="Text 10"/>
          <p:cNvSpPr/>
          <p:nvPr/>
        </p:nvSpPr>
        <p:spPr>
          <a:xfrm>
            <a:off x="812767" y="4597378"/>
            <a:ext cx="355568" cy="355568"/>
          </a:xfrm>
          <a:custGeom>
            <a:avLst/>
            <a:gdLst/>
            <a:ahLst/>
            <a:cxnLst/>
            <a:rect l="l" t="t" r="r" b="b"/>
            <a:pathLst>
              <a:path w="355568" h="355568">
                <a:moveTo>
                  <a:pt x="177784" y="0"/>
                </a:moveTo>
                <a:lnTo>
                  <a:pt x="177784" y="0"/>
                </a:lnTo>
                <a:arcTo hR="177784" wR="177784" stAng="16200000" swAng="5400000"/>
                <a:lnTo>
                  <a:pt x="355568" y="177784"/>
                </a:lnTo>
                <a:arcTo hR="177784" wR="177784" stAng="0" swAng="5400000"/>
                <a:lnTo>
                  <a:pt x="177784" y="355568"/>
                </a:lnTo>
                <a:arcTo hR="177784" wR="177784" stAng="5400000" swAng="5400000"/>
                <a:lnTo>
                  <a:pt x="0" y="177784"/>
                </a:lnTo>
                <a:arcTo hR="177784" wR="177784" stAng="10800000" swAng="5400000"/>
                <a:close/>
              </a:path>
            </a:pathLst>
          </a:custGeom>
          <a:solidFill>
            <a:srgbClr val="E3A33A"/>
          </a:solidFill>
          <a:ln/>
        </p:spPr>
        <p:txBody>
          <a:bodyPr wrap="square" lIns="0" tIns="0" rIns="0" bIns="0" rtlCol="0" anchor="t">
            <a:normAutofit/>
          </a:bodyPr>
          <a:lstStyle/>
          <a:p>
            <a:pPr algn="ctr" indent="0" marL="0">
              <a:lnSpc>
                <a:spcPts val="2796"/>
              </a:lnSpc>
              <a:buNone/>
            </a:pPr>
            <a:r>
              <a:rPr lang="en-US" sz="1200" b="1" dirty="0">
                <a:solidFill>
                  <a:srgbClr val="17222A"/>
                </a:solidFill>
                <a:latin typeface="Instrument Sans" pitchFamily="34" charset="0"/>
                <a:ea typeface="Instrument Sans" pitchFamily="34" charset="-122"/>
                <a:cs typeface="Instrument Sans" pitchFamily="34" charset="-120"/>
              </a:rPr>
              <a:t>3</a:t>
            </a:r>
            <a:endParaRPr lang="en-US" sz="1200" dirty="0"/>
          </a:p>
        </p:txBody>
      </p:sp>
      <p:sp>
        <p:nvSpPr>
          <p:cNvPr id="13" name="Text 11"/>
          <p:cNvSpPr/>
          <p:nvPr/>
        </p:nvSpPr>
        <p:spPr>
          <a:xfrm>
            <a:off x="1320712" y="4542774"/>
            <a:ext cx="5886485" cy="279372"/>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1EDE4"/>
                </a:solidFill>
                <a:latin typeface="Instrument Sans" pitchFamily="34" charset="0"/>
                <a:ea typeface="Instrument Sans" pitchFamily="34" charset="-122"/>
                <a:cs typeface="Instrument Sans" pitchFamily="34" charset="-120"/>
              </a:rPr>
              <a:t>Compare the two groups</a:t>
            </a:r>
            <a:endParaRPr lang="en-US" sz="1600" dirty="0"/>
          </a:p>
        </p:txBody>
      </p:sp>
      <p:sp>
        <p:nvSpPr>
          <p:cNvPr id="14" name="Text 12"/>
          <p:cNvSpPr/>
          <p:nvPr/>
        </p:nvSpPr>
        <p:spPr>
          <a:xfrm>
            <a:off x="1320712" y="4809424"/>
            <a:ext cx="5886485" cy="22352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9C2C9"/>
                </a:solidFill>
                <a:latin typeface="Instrument Sans" pitchFamily="34" charset="0"/>
                <a:ea typeface="Instrument Sans" pitchFamily="34" charset="-122"/>
                <a:cs typeface="Instrument Sans" pitchFamily="34" charset="-120"/>
              </a:rPr>
              <a:t>extra above 4,527 bookings (9.3% of offer bookings): keep it; below: cut it</a:t>
            </a:r>
            <a:endParaRPr lang="en-US" sz="1200" dirty="0"/>
          </a:p>
        </p:txBody>
      </p:sp>
      <p:sp>
        <p:nvSpPr>
          <p:cNvPr id="15" name="Text 13"/>
          <p:cNvSpPr/>
          <p:nvPr/>
        </p:nvSpPr>
        <p:spPr>
          <a:xfrm>
            <a:off x="812767" y="5257769"/>
            <a:ext cx="6409668" cy="436882"/>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E3A33A"/>
                </a:solidFill>
                <a:latin typeface="Instrument Sans" pitchFamily="34" charset="0"/>
                <a:ea typeface="Instrument Sans" pitchFamily="34" charset="-122"/>
                <a:cs typeface="Instrument Sans" pitchFamily="34" charset="-120"/>
              </a:rPr>
              <a:t>Key assumption</a:t>
            </a:r>
            <a:r>
              <a:rPr lang="en-US" sz="1200" dirty="0">
                <a:solidFill>
                  <a:srgbClr val="B9C2C9"/>
                </a:solidFill>
                <a:latin typeface="Instrument Sans" pitchFamily="34" charset="0"/>
                <a:ea typeface="Instrument Sans" pitchFamily="34" charset="-122"/>
                <a:cs typeface="Instrument Sans" pitchFamily="34" charset="-120"/>
              </a:rPr>
              <a:t> ₹1,619 is the list value of tests booked; real revenue is lower because some patients don’t turn up. Phlebotomist cost is not in the data.</a:t>
            </a:r>
            <a:endParaRPr lang="en-US" sz="1200" dirty="0"/>
          </a:p>
        </p:txBody>
      </p:sp>
      <p:sp>
        <p:nvSpPr>
          <p:cNvPr id="16" name="Shape 14"/>
          <p:cNvSpPr/>
          <p:nvPr/>
        </p:nvSpPr>
        <p:spPr>
          <a:xfrm>
            <a:off x="7492979" y="2412981"/>
            <a:ext cx="3886171" cy="3301986"/>
          </a:xfrm>
          <a:prstGeom prst="roundRect">
            <a:avLst>
              <a:gd name="adj" fmla="val 4615"/>
            </a:avLst>
          </a:prstGeom>
          <a:solidFill>
            <a:srgbClr val="22313B"/>
          </a:solidFill>
          <a:ln/>
        </p:spPr>
      </p:sp>
      <p:sp>
        <p:nvSpPr>
          <p:cNvPr id="17" name="Text 15"/>
          <p:cNvSpPr/>
          <p:nvPr/>
        </p:nvSpPr>
        <p:spPr>
          <a:xfrm>
            <a:off x="7721595" y="2641597"/>
            <a:ext cx="3531842"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A33A"/>
                </a:solidFill>
                <a:latin typeface="Instrument Sans" pitchFamily="34" charset="0"/>
                <a:ea typeface="Instrument Sans" pitchFamily="34" charset="-122"/>
                <a:cs typeface="Instrument Sans" pitchFamily="34" charset="-120"/>
              </a:rPr>
              <a:t>WHAT THE OFFER COST</a:t>
            </a:r>
            <a:endParaRPr lang="en-US" sz="1200" dirty="0"/>
          </a:p>
        </p:txBody>
      </p:sp>
      <p:sp>
        <p:nvSpPr>
          <p:cNvPr id="18" name="Text 16"/>
          <p:cNvSpPr/>
          <p:nvPr/>
        </p:nvSpPr>
        <p:spPr>
          <a:xfrm>
            <a:off x="7721595" y="2920994"/>
            <a:ext cx="3531842" cy="332737"/>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08A70"/>
                </a:solidFill>
                <a:latin typeface="Instrument Sans" pitchFamily="34" charset="0"/>
                <a:ea typeface="Instrument Sans" pitchFamily="34" charset="-122"/>
                <a:cs typeface="Instrument Sans" pitchFamily="34" charset="-120"/>
              </a:rPr>
              <a:t>₹2,095</a:t>
            </a:r>
            <a:endParaRPr lang="en-US" sz="2200" dirty="0"/>
          </a:p>
        </p:txBody>
      </p:sp>
      <p:sp>
        <p:nvSpPr>
          <p:cNvPr id="19" name="Text 17"/>
          <p:cNvSpPr/>
          <p:nvPr/>
        </p:nvSpPr>
        <p:spPr>
          <a:xfrm>
            <a:off x="7721595" y="3251172"/>
            <a:ext cx="353184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9"/>
                </a:solidFill>
                <a:latin typeface="Instrument Sans" pitchFamily="34" charset="0"/>
                <a:ea typeface="Instrument Sans" pitchFamily="34" charset="-122"/>
                <a:cs typeface="Instrument Sans" pitchFamily="34" charset="-120"/>
              </a:rPr>
              <a:t>per extra booking (₹73.3 lakh ÷ 3,499)</a:t>
            </a:r>
            <a:endParaRPr lang="en-US" sz="1200" dirty="0"/>
          </a:p>
        </p:txBody>
      </p:sp>
      <p:sp>
        <p:nvSpPr>
          <p:cNvPr id="20" name="Text 18"/>
          <p:cNvSpPr/>
          <p:nvPr/>
        </p:nvSpPr>
        <p:spPr>
          <a:xfrm>
            <a:off x="7721595" y="3606775"/>
            <a:ext cx="3531842" cy="332737"/>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3A33A"/>
                </a:solidFill>
                <a:latin typeface="Instrument Sans" pitchFamily="34" charset="0"/>
                <a:ea typeface="Instrument Sans" pitchFamily="34" charset="-122"/>
                <a:cs typeface="Instrument Sans" pitchFamily="34" charset="-120"/>
              </a:rPr>
              <a:t>₹1,619</a:t>
            </a:r>
            <a:endParaRPr lang="en-US" sz="2200" dirty="0"/>
          </a:p>
        </p:txBody>
      </p:sp>
      <p:sp>
        <p:nvSpPr>
          <p:cNvPr id="21" name="Text 19"/>
          <p:cNvSpPr/>
          <p:nvPr/>
        </p:nvSpPr>
        <p:spPr>
          <a:xfrm>
            <a:off x="7721595" y="3936988"/>
            <a:ext cx="353184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9"/>
                </a:solidFill>
                <a:latin typeface="Instrument Sans" pitchFamily="34" charset="0"/>
                <a:ea typeface="Instrument Sans" pitchFamily="34" charset="-122"/>
                <a:cs typeface="Instrument Sans" pitchFamily="34" charset="-120"/>
              </a:rPr>
              <a:t>booked test value per booking (list price)</a:t>
            </a:r>
            <a:endParaRPr lang="en-US" sz="1200" dirty="0"/>
          </a:p>
        </p:txBody>
      </p:sp>
      <p:sp>
        <p:nvSpPr>
          <p:cNvPr id="22" name="Text 20"/>
          <p:cNvSpPr/>
          <p:nvPr/>
        </p:nvSpPr>
        <p:spPr>
          <a:xfrm>
            <a:off x="7721595" y="4343369"/>
            <a:ext cx="3531842"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A33A"/>
                </a:solidFill>
                <a:latin typeface="Instrument Sans" pitchFamily="34" charset="0"/>
                <a:ea typeface="Instrument Sans" pitchFamily="34" charset="-122"/>
                <a:cs typeface="Instrument Sans" pitchFamily="34" charset="-120"/>
              </a:rPr>
              <a:t>IF WE ARE WRONG, A QUARTER</a:t>
            </a:r>
            <a:endParaRPr lang="en-US" sz="1200" dirty="0"/>
          </a:p>
        </p:txBody>
      </p:sp>
      <p:sp>
        <p:nvSpPr>
          <p:cNvPr id="23" name="Shape 21"/>
          <p:cNvSpPr/>
          <p:nvPr/>
        </p:nvSpPr>
        <p:spPr>
          <a:xfrm>
            <a:off x="7721595" y="4622769"/>
            <a:ext cx="3206729" cy="126986"/>
          </a:xfrm>
          <a:prstGeom prst="roundRect">
            <a:avLst>
              <a:gd name="adj" fmla="val 20002"/>
            </a:avLst>
          </a:prstGeom>
          <a:solidFill>
            <a:srgbClr val="F08A70"/>
          </a:solidFill>
          <a:ln/>
        </p:spPr>
      </p:sp>
      <p:sp>
        <p:nvSpPr>
          <p:cNvPr id="24" name="Text 22"/>
          <p:cNvSpPr/>
          <p:nvPr/>
        </p:nvSpPr>
        <p:spPr>
          <a:xfrm>
            <a:off x="7721595" y="4800569"/>
            <a:ext cx="353184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DE4"/>
                </a:solidFill>
                <a:latin typeface="Instrument Sans" pitchFamily="34" charset="0"/>
                <a:ea typeface="Instrument Sans" pitchFamily="34" charset="-122"/>
                <a:cs typeface="Instrument Sans" pitchFamily="34" charset="-120"/>
              </a:rPr>
              <a:t>Double, and it fails: ₹73.3 lakh spent</a:t>
            </a:r>
            <a:endParaRPr lang="en-US" sz="1200" dirty="0"/>
          </a:p>
        </p:txBody>
      </p:sp>
      <p:sp>
        <p:nvSpPr>
          <p:cNvPr id="25" name="Shape 23"/>
          <p:cNvSpPr/>
          <p:nvPr/>
        </p:nvSpPr>
        <p:spPr>
          <a:xfrm>
            <a:off x="7721595" y="5118069"/>
            <a:ext cx="2476472" cy="126986"/>
          </a:xfrm>
          <a:custGeom>
            <a:avLst/>
            <a:gdLst/>
            <a:ahLst/>
            <a:cxnLst/>
            <a:rect l="l" t="t" r="r" b="b"/>
            <a:pathLst>
              <a:path w="2476472" h="126986">
                <a:moveTo>
                  <a:pt x="25400" y="0"/>
                </a:moveTo>
                <a:lnTo>
                  <a:pt x="2476472" y="0"/>
                </a:lnTo>
                <a:lnTo>
                  <a:pt x="2476472" y="126986"/>
                </a:lnTo>
                <a:lnTo>
                  <a:pt x="25400" y="126986"/>
                </a:lnTo>
                <a:arcTo hR="25400" wR="25400" stAng="5400000" swAng="5400000"/>
                <a:lnTo>
                  <a:pt x="0" y="25400"/>
                </a:lnTo>
                <a:arcTo hR="25400" wR="25400" stAng="10800000" swAng="5400000"/>
                <a:close/>
              </a:path>
            </a:pathLst>
          </a:custGeom>
          <a:solidFill>
            <a:srgbClr val="E3A33A"/>
          </a:solidFill>
          <a:ln/>
        </p:spPr>
      </p:sp>
      <p:sp>
        <p:nvSpPr>
          <p:cNvPr id="26" name="Shape 24"/>
          <p:cNvSpPr/>
          <p:nvPr/>
        </p:nvSpPr>
        <p:spPr>
          <a:xfrm>
            <a:off x="10198068" y="5118069"/>
            <a:ext cx="952500" cy="126986"/>
          </a:xfrm>
          <a:custGeom>
            <a:avLst/>
            <a:gdLst/>
            <a:ahLst/>
            <a:cxnLst/>
            <a:rect l="l" t="t" r="r" b="b"/>
            <a:pathLst>
              <a:path w="952500" h="126986">
                <a:moveTo>
                  <a:pt x="0" y="0"/>
                </a:moveTo>
                <a:lnTo>
                  <a:pt x="927100" y="0"/>
                </a:lnTo>
                <a:arcTo hR="25400" wR="25400" stAng="16200000" swAng="5400000"/>
                <a:lnTo>
                  <a:pt x="952500" y="101586"/>
                </a:lnTo>
                <a:arcTo hR="25400" wR="25400" stAng="0" swAng="5400000"/>
                <a:lnTo>
                  <a:pt x="0" y="126986"/>
                </a:lnTo>
                <a:lnTo>
                  <a:pt x="0" y="0"/>
                </a:lnTo>
                <a:close/>
              </a:path>
            </a:pathLst>
          </a:custGeom>
          <a:solidFill>
            <a:srgbClr val="E3A33A">
              <a:alpha val="45000"/>
            </a:srgbClr>
          </a:solidFill>
          <a:ln/>
        </p:spPr>
      </p:sp>
      <p:sp>
        <p:nvSpPr>
          <p:cNvPr id="27" name="Text 25"/>
          <p:cNvSpPr/>
          <p:nvPr/>
        </p:nvSpPr>
        <p:spPr>
          <a:xfrm>
            <a:off x="7721595" y="5295869"/>
            <a:ext cx="353184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DE4"/>
                </a:solidFill>
                <a:latin typeface="Instrument Sans" pitchFamily="34" charset="0"/>
                <a:ea typeface="Instrument Sans" pitchFamily="34" charset="-122"/>
                <a:cs typeface="Instrument Sans" pitchFamily="34" charset="-120"/>
              </a:rPr>
              <a:t>Cut, and it worked: ₹57–78 lakh lost</a:t>
            </a:r>
            <a:endParaRPr lang="en-US" sz="1200" dirty="0"/>
          </a:p>
        </p:txBody>
      </p:sp>
      <p:sp>
        <p:nvSpPr>
          <p:cNvPr id="28" name="Text 26"/>
          <p:cNvSpPr/>
          <p:nvPr/>
        </p:nvSpPr>
        <p:spPr>
          <a:xfrm>
            <a:off x="812767" y="6238242"/>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1"/>
                </a:solidFill>
                <a:latin typeface="Instrument Sans" pitchFamily="34" charset="0"/>
                <a:ea typeface="Instrument Sans" pitchFamily="34" charset="-122"/>
                <a:cs typeface="Instrument Sans" pitchFamily="34" charset="-120"/>
              </a:rPr>
              <a:t>Kalpa Health · Brief E · The offer</a:t>
            </a:r>
            <a:endParaRPr lang="en-US" sz="1200" dirty="0"/>
          </a:p>
        </p:txBody>
      </p:sp>
      <p:sp>
        <p:nvSpPr>
          <p:cNvPr id="29" name="Shape 27"/>
          <p:cNvSpPr/>
          <p:nvPr/>
        </p:nvSpPr>
        <p:spPr>
          <a:xfrm>
            <a:off x="8991595" y="6337288"/>
            <a:ext cx="2387589" cy="38068"/>
          </a:xfrm>
          <a:prstGeom prst="rect">
            <a:avLst/>
          </a:prstGeom>
          <a:gradFill rotWithShape="1">
            <a:gsLst>
              <a:gs pos="0">
                <a:srgbClr val="F1EDE4">
                  <a:alpha val="18000"/>
                </a:srgbClr>
              </a:gs>
              <a:gs pos="87500">
                <a:srgbClr val="F1EDE4">
                  <a:alpha val="18000"/>
                </a:srgbClr>
              </a:gs>
              <a:gs pos="87500">
                <a:srgbClr val="F1EDE4">
                  <a:alpha val="0"/>
                </a:srgbClr>
              </a:gs>
              <a:gs pos="100000">
                <a:srgbClr val="000000">
                  <a:alpha val="0"/>
                </a:srgbClr>
              </a:gs>
            </a:gsLst>
            <a:lin ang="0" scaled="0"/>
          </a:gradFill>
          <a:ln/>
        </p:spPr>
      </p:sp>
      <p:sp>
        <p:nvSpPr>
          <p:cNvPr id="30" name="Shape 28"/>
          <p:cNvSpPr/>
          <p:nvPr/>
        </p:nvSpPr>
        <p:spPr>
          <a:xfrm>
            <a:off x="11023581" y="6337288"/>
            <a:ext cx="355568" cy="38068"/>
          </a:xfrm>
          <a:prstGeom prst="roundRect">
            <a:avLst>
              <a:gd name="adj" fmla="val 50000"/>
            </a:avLst>
          </a:prstGeom>
          <a:solidFill>
            <a:srgbClr val="E3A33A"/>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973"/>
                </a:solidFill>
                <a:latin typeface="Instrument Sans" pitchFamily="34" charset="0"/>
                <a:ea typeface="Instrument Sans" pitchFamily="34" charset="-122"/>
                <a:cs typeface="Instrument Sans" pitchFamily="34" charset="-120"/>
              </a:rPr>
              <a:t>BACKUP · B1</a:t>
            </a:r>
            <a:endParaRPr lang="en-US" sz="1200" dirty="0"/>
          </a:p>
        </p:txBody>
      </p:sp>
      <p:sp>
        <p:nvSpPr>
          <p:cNvPr id="3" name="Text 1"/>
          <p:cNvSpPr/>
          <p:nvPr>
            <p:ph type="title"/>
          </p:nvPr>
        </p:nvSpPr>
        <p:spPr>
          <a:xfrm>
            <a:off x="812767" y="1127720"/>
            <a:ext cx="10883445" cy="558804"/>
          </a:xfrm>
          <a:prstGeom prst="rect">
            <a:avLst/>
          </a:prstGeom>
          <a:noFill/>
          <a:ln/>
        </p:spPr>
        <p:txBody>
          <a:bodyPr wrap="square" lIns="0" tIns="0" rIns="0" bIns="0" rtlCol="0" anchor="t">
            <a:normAutofit/>
          </a:bodyPr>
          <a:lstStyle/>
          <a:p>
            <a:pPr algn="l" indent="0" marL="0">
              <a:lnSpc>
                <a:spcPts val="4200"/>
              </a:lnSpc>
              <a:buNone/>
            </a:pPr>
            <a:r>
              <a:rPr lang="en-US" sz="4000" b="0" i="0" spc="-50" kern="0" dirty="0">
                <a:solidFill>
                  <a:srgbClr val="17222A"/>
                </a:solidFill>
                <a:latin typeface="Instrument Serif" pitchFamily="18" charset="0"/>
                <a:ea typeface="Instrument Serif" pitchFamily="18" charset="-122"/>
                <a:cs typeface="Instrument Serif" pitchFamily="18" charset="-120"/>
              </a:rPr>
              <a:t>Where the 9% and the 5% come from</a:t>
            </a:r>
            <a:endParaRPr lang="en-US" sz="4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791" y="2027717"/>
          <a:ext cx="10555428" cy="2170755"/>
        </p:xfrm>
        <a:graphic>
          <a:graphicData uri="http://schemas.openxmlformats.org/drawingml/2006/table">
            <a:tbl>
              <a:tblPr/>
              <a:tblGrid>
                <a:gridCol w="5488822"/>
                <a:gridCol w="1688868"/>
                <a:gridCol w="1688868"/>
                <a:gridCol w="1688868"/>
              </a:tblGrid>
              <a:tr h="384369">
                <a:tc>
                  <a:txBody>
                    <a:bodyPr/>
                    <a:lstStyle/>
                    <a:p>
                      <a:pPr indent="0" marL="0">
                        <a:lnSpc>
                          <a:spcPts val="1960"/>
                        </a:lnSpc>
                        <a:buNone/>
                      </a:pPr>
                      <a:r>
                        <a:rPr lang="en-US" sz="1400" b="1" dirty="0">
                          <a:solidFill>
                            <a:srgbClr val="17222A"/>
                          </a:solidFill>
                          <a:latin typeface="Instrument Sans" pitchFamily="34" charset="0"/>
                          <a:ea typeface="Instrument Sans" pitchFamily="34" charset="-122"/>
                          <a:cs typeface="Instrument Sans" pitchFamily="34" charset="-120"/>
                        </a:rPr>
                        <a:t>Count</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960"/>
                        </a:lnSpc>
                        <a:buNone/>
                      </a:pPr>
                      <a:r>
                        <a:rPr lang="en-US" sz="1400" b="1" dirty="0">
                          <a:solidFill>
                            <a:srgbClr val="17222A"/>
                          </a:solidFill>
                          <a:latin typeface="Instrument Sans" pitchFamily="34" charset="0"/>
                          <a:ea typeface="Instrument Sans" pitchFamily="34" charset="-122"/>
                          <a:cs typeface="Instrument Sans" pitchFamily="34" charset="-120"/>
                        </a:rPr>
                        <a:t>Before</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960"/>
                        </a:lnSpc>
                        <a:buNone/>
                      </a:pPr>
                      <a:r>
                        <a:rPr lang="en-US" sz="1400" b="1" dirty="0">
                          <a:solidFill>
                            <a:srgbClr val="17222A"/>
                          </a:solidFill>
                          <a:latin typeface="Instrument Sans" pitchFamily="34" charset="0"/>
                          <a:ea typeface="Instrument Sans" pitchFamily="34" charset="-122"/>
                          <a:cs typeface="Instrument Sans" pitchFamily="34" charset="-120"/>
                        </a:rPr>
                        <a:t>After</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960"/>
                        </a:lnSpc>
                        <a:buNone/>
                      </a:pPr>
                      <a:r>
                        <a:rPr lang="en-US" sz="1400" b="1" dirty="0">
                          <a:solidFill>
                            <a:srgbClr val="17222A"/>
                          </a:solidFill>
                          <a:latin typeface="Instrument Sans" pitchFamily="34" charset="0"/>
                          <a:ea typeface="Instrument Sans" pitchFamily="34" charset="-122"/>
                          <a:cs typeface="Instrument Sans" pitchFamily="34" charset="-120"/>
                        </a:rPr>
                        <a:t>Change</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4369">
                <a:tc>
                  <a:txBody>
                    <a:bodyPr/>
                    <a:lstStyle/>
                    <a:p>
                      <a:pP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Tests, Jan–Jun 2025 → Jan–Jun 2026 (board’s 5%)</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436,302</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457,982</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+4.97%</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633277">
                <a:tc>
                  <a:txBody>
                    <a:bodyPr/>
                    <a:lstStyle/>
                    <a:p>
                      <a:pP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Bookings, five cities without Bengaluru, Q4 → Q1 (marketing’s 9%)</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69,968</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76,204</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+8.91%</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r>
              <a:tr h="384369">
                <a:tc>
                  <a:txBody>
                    <a:bodyPr/>
                    <a:lstStyle/>
                    <a:p>
                      <a:pP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Bookings, all six cities, Q4 2025 → Q1 2026</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89,674</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99,621</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+11.09%</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4369">
                <a:tc>
                  <a:txBody>
                    <a:bodyPr/>
                    <a:lstStyle/>
                    <a:p>
                      <a:pP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Bookings, all six cities, Q1 2025 → Q1 2026</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96,122</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99,621</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+3.64%</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Shape 2"/>
          <p:cNvSpPr/>
          <p:nvPr/>
        </p:nvSpPr>
        <p:spPr>
          <a:xfrm>
            <a:off x="815942" y="4420375"/>
            <a:ext cx="5175280" cy="1418438"/>
          </a:xfrm>
          <a:prstGeom prst="roundRect">
            <a:avLst>
              <a:gd name="adj" fmla="val 8730"/>
            </a:avLst>
          </a:prstGeom>
          <a:solidFill>
            <a:srgbClr val="FBFAF6"/>
          </a:solidFill>
          <a:ln w="6350">
            <a:solidFill>
              <a:srgbClr val="D9D2C3"/>
            </a:solidFill>
            <a:prstDash val="solid"/>
          </a:ln>
        </p:spPr>
      </p:sp>
      <p:sp>
        <p:nvSpPr>
          <p:cNvPr id="6" name="Text 3"/>
          <p:cNvSpPr/>
          <p:nvPr/>
        </p:nvSpPr>
        <p:spPr>
          <a:xfrm>
            <a:off x="1020368" y="4624800"/>
            <a:ext cx="4909420"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WHY BENGALURU DROPS OUT</a:t>
            </a:r>
            <a:endParaRPr lang="en-US" sz="1200" dirty="0"/>
          </a:p>
        </p:txBody>
      </p:sp>
      <p:sp>
        <p:nvSpPr>
          <p:cNvPr id="7" name="Text 4"/>
          <p:cNvSpPr/>
          <p:nvPr/>
        </p:nvSpPr>
        <p:spPr>
          <a:xfrm>
            <a:off x="1020368" y="4914326"/>
            <a:ext cx="4909420" cy="74545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222A"/>
                </a:solidFill>
                <a:latin typeface="Instrument Sans" pitchFamily="34" charset="0"/>
                <a:ea typeface="Instrument Sans" pitchFamily="34" charset="-122"/>
                <a:cs typeface="Instrument Sans" pitchFamily="34" charset="-120"/>
              </a:rPr>
              <a:t>It is spelled “Bangalore” until December 2025 and “Bengaluru” from January 2026. A count that keeps only names on both lists loses the city in both quarters.</a:t>
            </a:r>
            <a:endParaRPr lang="en-US" sz="1400" dirty="0"/>
          </a:p>
        </p:txBody>
      </p:sp>
      <p:sp>
        <p:nvSpPr>
          <p:cNvPr id="8" name="Shape 5"/>
          <p:cNvSpPr/>
          <p:nvPr/>
        </p:nvSpPr>
        <p:spPr>
          <a:xfrm>
            <a:off x="6200764" y="4420375"/>
            <a:ext cx="5175280" cy="1418438"/>
          </a:xfrm>
          <a:prstGeom prst="roundRect">
            <a:avLst>
              <a:gd name="adj" fmla="val 8730"/>
            </a:avLst>
          </a:prstGeom>
          <a:solidFill>
            <a:srgbClr val="FBFAF6"/>
          </a:solidFill>
          <a:ln w="6350">
            <a:solidFill>
              <a:srgbClr val="D9D2C3"/>
            </a:solidFill>
            <a:prstDash val="solid"/>
          </a:ln>
        </p:spPr>
      </p:sp>
      <p:sp>
        <p:nvSpPr>
          <p:cNvPr id="9" name="Text 6"/>
          <p:cNvSpPr/>
          <p:nvPr/>
        </p:nvSpPr>
        <p:spPr>
          <a:xfrm>
            <a:off x="6405190" y="4624800"/>
            <a:ext cx="4909420"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HOW WE FOUND IT</a:t>
            </a:r>
            <a:endParaRPr lang="en-US" sz="1200" dirty="0"/>
          </a:p>
        </p:txBody>
      </p:sp>
      <p:sp>
        <p:nvSpPr>
          <p:cNvPr id="10" name="Text 7"/>
          <p:cNvSpPr/>
          <p:nvPr/>
        </p:nvSpPr>
        <p:spPr>
          <a:xfrm>
            <a:off x="6405190" y="4914326"/>
            <a:ext cx="4909420" cy="74545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222A"/>
                </a:solidFill>
                <a:latin typeface="Instrument Sans" pitchFamily="34" charset="0"/>
                <a:ea typeface="Instrument Sans" pitchFamily="34" charset="-122"/>
                <a:cs typeface="Instrument Sans" pitchFamily="34" charset="-120"/>
              </a:rPr>
              <a:t>We tested 1,968 ways of counting. The five-city count without Bengaluru gives 8.91%; the board’s 5% is test lines, not bookings.</a:t>
            </a:r>
            <a:endParaRPr lang="en-US" sz="1400" dirty="0"/>
          </a:p>
        </p:txBody>
      </p:sp>
      <p:sp>
        <p:nvSpPr>
          <p:cNvPr id="11" name="Text 8"/>
          <p:cNvSpPr/>
          <p:nvPr/>
        </p:nvSpPr>
        <p:spPr>
          <a:xfrm>
            <a:off x="812767" y="6238242"/>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Backup · counts by visit date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67" y="812766"/>
            <a:ext cx="10883445" cy="23741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5E6973"/>
                </a:solidFill>
                <a:latin typeface="Instrument Sans" pitchFamily="34" charset="0"/>
                <a:ea typeface="Instrument Sans" pitchFamily="34" charset="-122"/>
                <a:cs typeface="Instrument Sans" pitchFamily="34" charset="-120"/>
              </a:rPr>
              <a:t>BACKUP · B2</a:t>
            </a:r>
            <a:endParaRPr lang="en-US" sz="1196" dirty="0"/>
          </a:p>
        </p:txBody>
      </p:sp>
      <p:sp>
        <p:nvSpPr>
          <p:cNvPr id="3" name="Text 1"/>
          <p:cNvSpPr/>
          <p:nvPr>
            <p:ph type="title"/>
          </p:nvPr>
        </p:nvSpPr>
        <p:spPr>
          <a:xfrm>
            <a:off x="812767" y="1126375"/>
            <a:ext cx="10883445" cy="555393"/>
          </a:xfrm>
          <a:prstGeom prst="rect">
            <a:avLst/>
          </a:prstGeom>
          <a:noFill/>
          <a:ln/>
        </p:spPr>
        <p:txBody>
          <a:bodyPr wrap="square" lIns="0" tIns="0" rIns="0" bIns="0" rtlCol="0" anchor="t">
            <a:normAutofit/>
          </a:bodyPr>
          <a:lstStyle/>
          <a:p>
            <a:pPr algn="l" indent="0" marL="0">
              <a:lnSpc>
                <a:spcPts val="4174"/>
              </a:lnSpc>
              <a:buNone/>
            </a:pPr>
            <a:r>
              <a:rPr lang="en-US" sz="3975" b="0" i="0" spc="-50" kern="0" dirty="0">
                <a:solidFill>
                  <a:srgbClr val="17222A"/>
                </a:solidFill>
                <a:latin typeface="Instrument Serif" pitchFamily="18" charset="0"/>
                <a:ea typeface="Instrument Serif" pitchFamily="18" charset="-122"/>
                <a:cs typeface="Instrument Serif" pitchFamily="18" charset="-120"/>
              </a:rPr>
              <a:t>Seven estimates of the extra bookings</a:t>
            </a:r>
            <a:endParaRPr lang="en-US" sz="397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791" y="1927013"/>
          <a:ext cx="10555428" cy="3302916"/>
        </p:xfrm>
        <a:graphic>
          <a:graphicData uri="http://schemas.openxmlformats.org/drawingml/2006/table">
            <a:tbl>
              <a:tblPr/>
              <a:tblGrid>
                <a:gridCol w="3166628"/>
                <a:gridCol w="3588845"/>
                <a:gridCol w="1266651"/>
                <a:gridCol w="1266651"/>
                <a:gridCol w="1266651"/>
              </a:tblGrid>
              <a:tr h="628489">
                <a:tc>
                  <a:txBody>
                    <a:bodyPr/>
                    <a:lstStyle/>
                    <a:p>
                      <a:pPr indent="0" marL="0">
                        <a:lnSpc>
                          <a:spcPts val="1948"/>
                        </a:lnSpc>
                        <a:buNone/>
                      </a:pPr>
                      <a:r>
                        <a:rPr lang="en-US" sz="1391" b="1" dirty="0">
                          <a:solidFill>
                            <a:srgbClr val="17222A"/>
                          </a:solidFill>
                          <a:latin typeface="Instrument Sans" pitchFamily="34" charset="0"/>
                          <a:ea typeface="Instrument Sans" pitchFamily="34" charset="-122"/>
                          <a:cs typeface="Instrument Sans" pitchFamily="34" charset="-120"/>
                        </a:rPr>
                        <a:t>Estimate</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48"/>
                        </a:lnSpc>
                        <a:buNone/>
                      </a:pPr>
                      <a:r>
                        <a:rPr lang="en-US" sz="1391" b="1" dirty="0">
                          <a:solidFill>
                            <a:srgbClr val="17222A"/>
                          </a:solidFill>
                          <a:latin typeface="Instrument Sans" pitchFamily="34" charset="0"/>
                          <a:ea typeface="Instrument Sans" pitchFamily="34" charset="-122"/>
                          <a:cs typeface="Instrument Sans" pitchFamily="34" charset="-120"/>
                        </a:rPr>
                        <a:t>What it assumes</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948"/>
                        </a:lnSpc>
                        <a:buNone/>
                      </a:pPr>
                      <a:r>
                        <a:rPr lang="en-US" sz="1391" b="1" dirty="0">
                          <a:solidFill>
                            <a:srgbClr val="17222A"/>
                          </a:solidFill>
                          <a:latin typeface="Instrument Sans" pitchFamily="34" charset="0"/>
                          <a:ea typeface="Instrument Sans" pitchFamily="34" charset="-122"/>
                          <a:cs typeface="Instrument Sans" pitchFamily="34" charset="-120"/>
                        </a:rPr>
                        <a:t>Without offer</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948"/>
                        </a:lnSpc>
                        <a:buNone/>
                      </a:pPr>
                      <a:r>
                        <a:rPr lang="en-US" sz="1391" b="1" dirty="0">
                          <a:solidFill>
                            <a:srgbClr val="17222A"/>
                          </a:solidFill>
                          <a:latin typeface="Instrument Sans" pitchFamily="34" charset="0"/>
                          <a:ea typeface="Instrument Sans" pitchFamily="34" charset="-122"/>
                          <a:cs typeface="Instrument Sans" pitchFamily="34" charset="-120"/>
                        </a:rPr>
                        <a:t>Extra</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48"/>
                        </a:lnSpc>
                        <a:buNone/>
                      </a:pPr>
                      <a:r>
                        <a:rPr lang="en-US" sz="1391" b="1" dirty="0">
                          <a:solidFill>
                            <a:srgbClr val="17222A"/>
                          </a:solidFill>
                          <a:latin typeface="Instrument Sans" pitchFamily="34" charset="0"/>
                          <a:ea typeface="Instrument Sans" pitchFamily="34" charset="-122"/>
                          <a:cs typeface="Instrument Sans" pitchFamily="34" charset="-120"/>
                        </a:rPr>
                        <a:t>Verdict</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2061">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Previous quarter (Q4 2025)</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No season, no trend</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89,674</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9,947</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Set aside</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2061">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Same quarter last year (Q1 2025)</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Season kept, no growth</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algn="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96,122</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algn="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3,499</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Central</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r>
              <a:tr h="382061">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Q2 2026 with 2025’s season</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The offer left nothing in Q2</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97,866</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1,755</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Low end</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2061">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Q2 2026 as it is</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No season</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95,423</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4,198</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Kept</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2061">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2025 trend extended</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2025’s decline continues</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87,780</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11,841</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Set aside</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2061">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Offer vs no-offer, raw</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Both groups would grow alike</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14,264</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5E6973"/>
                          </a:solidFill>
                          <a:latin typeface="Instrument Sans" pitchFamily="34" charset="0"/>
                          <a:ea typeface="Instrument Sans" pitchFamily="34" charset="-122"/>
                          <a:cs typeface="Instrument Sans" pitchFamily="34" charset="-120"/>
                        </a:rPr>
                        <a:t>Set aside</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2061">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Offer vs no-offer, minus placebo</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Less the 2025 placebo average</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4,842</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8"/>
                        </a:lnSpc>
                        <a:buNone/>
                      </a:pPr>
                      <a:r>
                        <a:rPr lang="en-US" sz="1391" dirty="0">
                          <a:solidFill>
                            <a:srgbClr val="17222A"/>
                          </a:solidFill>
                          <a:latin typeface="Instrument Sans" pitchFamily="34" charset="0"/>
                          <a:ea typeface="Instrument Sans" pitchFamily="34" charset="-122"/>
                          <a:cs typeface="Instrument Sans" pitchFamily="34" charset="-120"/>
                        </a:rPr>
                        <a:t>High end</a:t>
                      </a:r>
                      <a:endParaRPr lang="en-US" sz="1391" dirty="0">
                        <a:latin typeface="Instrument Sans" charset="0"/>
                        <a:ea typeface="Instrument Sans" charset="0"/>
                        <a:cs typeface="Instrument Sans" charset="0"/>
                      </a:endParaRPr>
                    </a:p>
                  </a:txBody>
                  <a:tcPr marL="61841" marR="61841" marT="61841" marB="61841"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767" y="5433123"/>
            <a:ext cx="9156700" cy="434264"/>
          </a:xfrm>
          <a:prstGeom prst="rect">
            <a:avLst/>
          </a:prstGeom>
          <a:noFill/>
          <a:ln/>
        </p:spPr>
        <p:txBody>
          <a:bodyPr wrap="square" lIns="0" tIns="0" rIns="0" bIns="0" rtlCol="0" anchor="t">
            <a:normAutofit/>
          </a:bodyPr>
          <a:lstStyle/>
          <a:p>
            <a:pPr algn="l" indent="0" marL="0">
              <a:lnSpc>
                <a:spcPts val="1610"/>
              </a:lnSpc>
              <a:buNone/>
            </a:pPr>
            <a:r>
              <a:rPr lang="en-US" sz="1193" dirty="0">
                <a:solidFill>
                  <a:srgbClr val="46525C"/>
                </a:solidFill>
                <a:latin typeface="Instrument Sans" pitchFamily="34" charset="0"/>
                <a:ea typeface="Instrument Sans" pitchFamily="34" charset="-122"/>
                <a:cs typeface="Instrument Sans" pitchFamily="34" charset="-120"/>
              </a:rPr>
              <a:t>Actual Q1 2026: 99,621 bookings. Extra = actual minus the “without offer” total. The two grid rows compare offer and no-offer patients, so they have no single total.</a:t>
            </a:r>
            <a:endParaRPr lang="en-US" sz="1193" dirty="0"/>
          </a:p>
        </p:txBody>
      </p:sp>
      <p:sp>
        <p:nvSpPr>
          <p:cNvPr id="6" name="Text 3"/>
          <p:cNvSpPr/>
          <p:nvPr/>
        </p:nvSpPr>
        <p:spPr>
          <a:xfrm>
            <a:off x="812767" y="6238239"/>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Backup · six cities, bookings by visit date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973"/>
                </a:solidFill>
                <a:latin typeface="Instrument Sans" pitchFamily="34" charset="0"/>
                <a:ea typeface="Instrument Sans" pitchFamily="34" charset="-122"/>
                <a:cs typeface="Instrument Sans" pitchFamily="34" charset="-120"/>
              </a:rPr>
              <a:t>BACKUP · B3</a:t>
            </a:r>
            <a:endParaRPr lang="en-US" sz="1200" dirty="0"/>
          </a:p>
        </p:txBody>
      </p:sp>
      <p:sp>
        <p:nvSpPr>
          <p:cNvPr id="3" name="Text 1"/>
          <p:cNvSpPr/>
          <p:nvPr>
            <p:ph type="title"/>
          </p:nvPr>
        </p:nvSpPr>
        <p:spPr>
          <a:xfrm>
            <a:off x="812767" y="1127720"/>
            <a:ext cx="10883445" cy="558804"/>
          </a:xfrm>
          <a:prstGeom prst="rect">
            <a:avLst/>
          </a:prstGeom>
          <a:noFill/>
          <a:ln/>
        </p:spPr>
        <p:txBody>
          <a:bodyPr wrap="square" lIns="0" tIns="0" rIns="0" bIns="0" rtlCol="0" anchor="t">
            <a:normAutofit/>
          </a:bodyPr>
          <a:lstStyle/>
          <a:p>
            <a:pPr algn="l" indent="0" marL="0">
              <a:lnSpc>
                <a:spcPts val="4200"/>
              </a:lnSpc>
              <a:buNone/>
            </a:pPr>
            <a:r>
              <a:rPr lang="en-US" sz="4000" b="0" i="0" spc="-50" kern="0" dirty="0">
                <a:solidFill>
                  <a:srgbClr val="17222A"/>
                </a:solidFill>
                <a:latin typeface="Instrument Serif" pitchFamily="18" charset="0"/>
                <a:ea typeface="Instrument Serif" pitchFamily="18" charset="-122"/>
                <a:cs typeface="Instrument Serif" pitchFamily="18" charset="-120"/>
              </a:rPr>
              <a:t>Three tests that tried to break the answer</a:t>
            </a:r>
            <a:endParaRPr lang="en-US" sz="4000" dirty="0"/>
          </a:p>
        </p:txBody>
      </p:sp>
      <p:sp>
        <p:nvSpPr>
          <p:cNvPr id="4" name="Shape 2"/>
          <p:cNvSpPr/>
          <p:nvPr/>
        </p:nvSpPr>
        <p:spPr>
          <a:xfrm>
            <a:off x="815942" y="3164464"/>
            <a:ext cx="3380317" cy="2674348"/>
          </a:xfrm>
          <a:prstGeom prst="roundRect">
            <a:avLst>
              <a:gd name="adj" fmla="val 4630"/>
            </a:avLst>
          </a:prstGeom>
          <a:solidFill>
            <a:srgbClr val="FBFAF6"/>
          </a:solidFill>
          <a:ln w="6350">
            <a:solidFill>
              <a:srgbClr val="D9D2C3"/>
            </a:solidFill>
            <a:prstDash val="solid"/>
          </a:ln>
        </p:spPr>
      </p:sp>
      <p:sp>
        <p:nvSpPr>
          <p:cNvPr id="5" name="Text 3"/>
          <p:cNvSpPr/>
          <p:nvPr/>
        </p:nvSpPr>
        <p:spPr>
          <a:xfrm>
            <a:off x="1020368" y="3368892"/>
            <a:ext cx="3060607"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PLACEBO</a:t>
            </a:r>
            <a:endParaRPr lang="en-US" sz="1200" dirty="0"/>
          </a:p>
        </p:txBody>
      </p:sp>
      <p:sp>
        <p:nvSpPr>
          <p:cNvPr id="6" name="Text 4"/>
          <p:cNvSpPr/>
          <p:nvPr/>
        </p:nvSpPr>
        <p:spPr>
          <a:xfrm>
            <a:off x="1020368" y="3658419"/>
            <a:ext cx="3060607" cy="332737"/>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222A"/>
                </a:solidFill>
                <a:latin typeface="Instrument Sans" pitchFamily="34" charset="0"/>
                <a:ea typeface="Instrument Sans" pitchFamily="34" charset="-122"/>
                <a:cs typeface="Instrument Sans" pitchFamily="34" charset="-120"/>
              </a:rPr>
              <a:t>9,068–9,816</a:t>
            </a:r>
            <a:endParaRPr lang="en-US" sz="2200" dirty="0"/>
          </a:p>
        </p:txBody>
      </p:sp>
      <p:sp>
        <p:nvSpPr>
          <p:cNvPr id="7" name="Text 5"/>
          <p:cNvSpPr/>
          <p:nvPr/>
        </p:nvSpPr>
        <p:spPr>
          <a:xfrm>
            <a:off x="1020368" y="4041924"/>
            <a:ext cx="3060607" cy="74545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25C"/>
                </a:solidFill>
                <a:latin typeface="Instrument Sans" pitchFamily="34" charset="0"/>
                <a:ea typeface="Instrument Sans" pitchFamily="34" charset="-122"/>
                <a:cs typeface="Instrument Sans" pitchFamily="34" charset="-120"/>
              </a:rPr>
              <a:t>“extra” bookings the offer-vs-no-offer test finds in 2025 quarters, when there was no offer.</a:t>
            </a:r>
            <a:endParaRPr lang="en-US" sz="1400" dirty="0"/>
          </a:p>
        </p:txBody>
      </p:sp>
      <p:sp>
        <p:nvSpPr>
          <p:cNvPr id="8" name="Text 6"/>
          <p:cNvSpPr/>
          <p:nvPr/>
        </p:nvSpPr>
        <p:spPr>
          <a:xfrm>
            <a:off x="1020368" y="5154346"/>
            <a:ext cx="3060607" cy="50544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7222A"/>
                </a:solidFill>
                <a:latin typeface="Instrument Sans" pitchFamily="34" charset="0"/>
                <a:ea typeface="Instrument Sans" pitchFamily="34" charset="-122"/>
                <a:cs typeface="Instrument Sans" pitchFamily="34" charset="-120"/>
              </a:rPr>
              <a:t>So its 14,264 mostly measures who books at home.</a:t>
            </a:r>
            <a:endParaRPr lang="en-US" sz="1400" dirty="0"/>
          </a:p>
        </p:txBody>
      </p:sp>
      <p:sp>
        <p:nvSpPr>
          <p:cNvPr id="9" name="Shape 7"/>
          <p:cNvSpPr/>
          <p:nvPr/>
        </p:nvSpPr>
        <p:spPr>
          <a:xfrm>
            <a:off x="4405800" y="3164464"/>
            <a:ext cx="3380351" cy="2674348"/>
          </a:xfrm>
          <a:prstGeom prst="roundRect">
            <a:avLst>
              <a:gd name="adj" fmla="val 4630"/>
            </a:avLst>
          </a:prstGeom>
          <a:solidFill>
            <a:srgbClr val="FBFAF6"/>
          </a:solidFill>
          <a:ln w="6350">
            <a:solidFill>
              <a:srgbClr val="D9D2C3"/>
            </a:solidFill>
            <a:prstDash val="solid"/>
          </a:ln>
        </p:spPr>
      </p:sp>
      <p:sp>
        <p:nvSpPr>
          <p:cNvPr id="10" name="Text 8"/>
          <p:cNvSpPr/>
          <p:nvPr/>
        </p:nvSpPr>
        <p:spPr>
          <a:xfrm>
            <a:off x="4610227" y="3368892"/>
            <a:ext cx="3060643"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AFTER THE OFFER</a:t>
            </a:r>
            <a:endParaRPr lang="en-US" sz="1200" dirty="0"/>
          </a:p>
        </p:txBody>
      </p:sp>
      <p:sp>
        <p:nvSpPr>
          <p:cNvPr id="11" name="Text 9"/>
          <p:cNvSpPr/>
          <p:nvPr/>
        </p:nvSpPr>
        <p:spPr>
          <a:xfrm>
            <a:off x="4610227" y="3658419"/>
            <a:ext cx="3060643" cy="332737"/>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222A"/>
                </a:solidFill>
                <a:latin typeface="Instrument Sans" pitchFamily="34" charset="0"/>
                <a:ea typeface="Instrument Sans" pitchFamily="34" charset="-122"/>
                <a:cs typeface="Instrument Sans" pitchFamily="34" charset="-120"/>
              </a:rPr>
              <a:t>+23.7%</a:t>
            </a:r>
            <a:endParaRPr lang="en-US" sz="2200" dirty="0"/>
          </a:p>
        </p:txBody>
      </p:sp>
      <p:sp>
        <p:nvSpPr>
          <p:cNvPr id="12" name="Text 10"/>
          <p:cNvSpPr/>
          <p:nvPr/>
        </p:nvSpPr>
        <p:spPr>
          <a:xfrm>
            <a:off x="4610227" y="4041924"/>
            <a:ext cx="3060643" cy="74545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25C"/>
                </a:solidFill>
                <a:latin typeface="Instrument Sans" pitchFamily="34" charset="0"/>
                <a:ea typeface="Instrument Sans" pitchFamily="34" charset="-122"/>
                <a:cs typeface="Instrument Sans" pitchFamily="34" charset="-120"/>
              </a:rPr>
              <a:t>home bookings, Q2 2026 against Q2 2025, in the four cities on the old system (Q1: +54.8%). Total: +5.0%.</a:t>
            </a:r>
            <a:endParaRPr lang="en-US" sz="1400" dirty="0"/>
          </a:p>
        </p:txBody>
      </p:sp>
      <p:sp>
        <p:nvSpPr>
          <p:cNvPr id="13" name="Text 11"/>
          <p:cNvSpPr/>
          <p:nvPr/>
        </p:nvSpPr>
        <p:spPr>
          <a:xfrm>
            <a:off x="4610227" y="4914323"/>
            <a:ext cx="3060643" cy="745459"/>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7222A"/>
                </a:solidFill>
                <a:latin typeface="Instrument Sans" pitchFamily="34" charset="0"/>
                <a:ea typeface="Instrument Sans" pitchFamily="34" charset="-122"/>
                <a:cs typeface="Instrument Sans" pitchFamily="34" charset="-120"/>
              </a:rPr>
              <a:t>Bookings stayed up after the fee came back, so Q4 2025 is the wrong base.</a:t>
            </a:r>
            <a:endParaRPr lang="en-US" sz="1400" dirty="0"/>
          </a:p>
        </p:txBody>
      </p:sp>
      <p:sp>
        <p:nvSpPr>
          <p:cNvPr id="14" name="Shape 12"/>
          <p:cNvSpPr/>
          <p:nvPr/>
        </p:nvSpPr>
        <p:spPr>
          <a:xfrm>
            <a:off x="7995693" y="3164464"/>
            <a:ext cx="3380351" cy="2674348"/>
          </a:xfrm>
          <a:prstGeom prst="roundRect">
            <a:avLst>
              <a:gd name="adj" fmla="val 4630"/>
            </a:avLst>
          </a:prstGeom>
          <a:solidFill>
            <a:srgbClr val="FBFAF6"/>
          </a:solidFill>
          <a:ln w="6350">
            <a:solidFill>
              <a:srgbClr val="D9D2C3"/>
            </a:solidFill>
            <a:prstDash val="solid"/>
          </a:ln>
        </p:spPr>
      </p:sp>
      <p:sp>
        <p:nvSpPr>
          <p:cNvPr id="15" name="Text 13"/>
          <p:cNvSpPr/>
          <p:nvPr/>
        </p:nvSpPr>
        <p:spPr>
          <a:xfrm>
            <a:off x="8200120" y="3368892"/>
            <a:ext cx="3060643"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PULL-FORWARD</a:t>
            </a:r>
            <a:endParaRPr lang="en-US" sz="1200" dirty="0"/>
          </a:p>
        </p:txBody>
      </p:sp>
      <p:sp>
        <p:nvSpPr>
          <p:cNvPr id="16" name="Text 14"/>
          <p:cNvSpPr/>
          <p:nvPr/>
        </p:nvSpPr>
        <p:spPr>
          <a:xfrm>
            <a:off x="8200120" y="3658419"/>
            <a:ext cx="3060643" cy="332737"/>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222A"/>
                </a:solidFill>
                <a:latin typeface="Instrument Sans" pitchFamily="34" charset="0"/>
                <a:ea typeface="Instrument Sans" pitchFamily="34" charset="-122"/>
                <a:cs typeface="Instrument Sans" pitchFamily="34" charset="-120"/>
              </a:rPr>
              <a:t>−38.4% vs −45.6%</a:t>
            </a:r>
            <a:endParaRPr lang="en-US" sz="2200" dirty="0"/>
          </a:p>
        </p:txBody>
      </p:sp>
      <p:sp>
        <p:nvSpPr>
          <p:cNvPr id="17" name="Text 15"/>
          <p:cNvSpPr/>
          <p:nvPr/>
        </p:nvSpPr>
        <p:spPr>
          <a:xfrm>
            <a:off x="8200120" y="4041924"/>
            <a:ext cx="3060643" cy="74545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25C"/>
                </a:solidFill>
                <a:latin typeface="Instrument Sans" pitchFamily="34" charset="0"/>
                <a:ea typeface="Instrument Sans" pitchFamily="34" charset="-122"/>
                <a:cs typeface="Instrument Sans" pitchFamily="34" charset="-120"/>
              </a:rPr>
              <a:t>bookings per returning patient, Q4 2025 to Q2 2026: offer users against non-users.</a:t>
            </a:r>
            <a:endParaRPr lang="en-US" sz="1400" dirty="0"/>
          </a:p>
        </p:txBody>
      </p:sp>
      <p:sp>
        <p:nvSpPr>
          <p:cNvPr id="18" name="Text 16"/>
          <p:cNvSpPr/>
          <p:nvPr/>
        </p:nvSpPr>
        <p:spPr>
          <a:xfrm>
            <a:off x="8200120" y="5154346"/>
            <a:ext cx="3060643" cy="50544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7222A"/>
                </a:solidFill>
                <a:latin typeface="Instrument Sans" pitchFamily="34" charset="0"/>
                <a:ea typeface="Instrument Sans" pitchFamily="34" charset="-122"/>
                <a:cs typeface="Instrument Sans" pitchFamily="34" charset="-120"/>
              </a:rPr>
              <a:t>Offer users fell less: no sign the offer only moved bookings earlier.</a:t>
            </a:r>
            <a:endParaRPr lang="en-US" sz="1400" dirty="0"/>
          </a:p>
        </p:txBody>
      </p:sp>
      <p:sp>
        <p:nvSpPr>
          <p:cNvPr id="19" name="Text 17"/>
          <p:cNvSpPr/>
          <p:nvPr/>
        </p:nvSpPr>
        <p:spPr>
          <a:xfrm>
            <a:off x="812767" y="6238242"/>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Backup · placebo on 2025 quarter pairs; four cities = Ahmedabad, Bengaluru, Hyderabad, Pune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67" y="812763"/>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973"/>
                </a:solidFill>
                <a:latin typeface="Instrument Sans" pitchFamily="34" charset="0"/>
                <a:ea typeface="Instrument Sans" pitchFamily="34" charset="-122"/>
                <a:cs typeface="Instrument Sans" pitchFamily="34" charset="-120"/>
              </a:rPr>
              <a:t>BACKUP · B4</a:t>
            </a:r>
            <a:endParaRPr lang="en-US" sz="1200" dirty="0"/>
          </a:p>
        </p:txBody>
      </p:sp>
      <p:sp>
        <p:nvSpPr>
          <p:cNvPr id="3" name="Text 1"/>
          <p:cNvSpPr/>
          <p:nvPr>
            <p:ph type="title"/>
          </p:nvPr>
        </p:nvSpPr>
        <p:spPr>
          <a:xfrm>
            <a:off x="812767" y="1127714"/>
            <a:ext cx="10883445" cy="558804"/>
          </a:xfrm>
          <a:prstGeom prst="rect">
            <a:avLst/>
          </a:prstGeom>
          <a:noFill/>
          <a:ln/>
        </p:spPr>
        <p:txBody>
          <a:bodyPr wrap="square" lIns="0" tIns="0" rIns="0" bIns="0" rtlCol="0" anchor="t">
            <a:normAutofit/>
          </a:bodyPr>
          <a:lstStyle/>
          <a:p>
            <a:pPr algn="l" indent="0" marL="0">
              <a:lnSpc>
                <a:spcPts val="4200"/>
              </a:lnSpc>
              <a:buNone/>
            </a:pPr>
            <a:r>
              <a:rPr lang="en-US" sz="4000" b="0" i="0" spc="-50" kern="0" dirty="0">
                <a:solidFill>
                  <a:srgbClr val="17222A"/>
                </a:solidFill>
                <a:latin typeface="Instrument Serif" pitchFamily="18" charset="0"/>
                <a:ea typeface="Instrument Serif" pitchFamily="18" charset="-122"/>
                <a:cs typeface="Instrument Serif" pitchFamily="18" charset="-120"/>
              </a:rPr>
              <a:t>What it costs at three visit prices</a:t>
            </a:r>
            <a:endParaRPr lang="en-US" sz="4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791" y="2027714"/>
          <a:ext cx="10555428" cy="1537477"/>
        </p:xfrm>
        <a:graphic>
          <a:graphicData uri="http://schemas.openxmlformats.org/drawingml/2006/table">
            <a:tbl>
              <a:tblPr/>
              <a:tblGrid>
                <a:gridCol w="2955520"/>
                <a:gridCol w="1899977"/>
                <a:gridCol w="3377737"/>
                <a:gridCol w="2322194"/>
              </a:tblGrid>
              <a:tr h="384369">
                <a:tc>
                  <a:txBody>
                    <a:bodyPr/>
                    <a:lstStyle/>
                    <a:p>
                      <a:pPr indent="0" marL="0">
                        <a:lnSpc>
                          <a:spcPts val="1960"/>
                        </a:lnSpc>
                        <a:buNone/>
                      </a:pPr>
                      <a:r>
                        <a:rPr lang="en-US" sz="1400" b="1" dirty="0">
                          <a:solidFill>
                            <a:srgbClr val="17222A"/>
                          </a:solidFill>
                          <a:latin typeface="Instrument Sans" pitchFamily="34" charset="0"/>
                          <a:ea typeface="Instrument Sans" pitchFamily="34" charset="-122"/>
                          <a:cs typeface="Instrument Sans" pitchFamily="34" charset="-120"/>
                        </a:rPr>
                        <a:t>Visit cost (assumed)</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960"/>
                        </a:lnSpc>
                        <a:buNone/>
                      </a:pPr>
                      <a:r>
                        <a:rPr lang="en-US" sz="1400" b="1" dirty="0">
                          <a:solidFill>
                            <a:srgbClr val="17222A"/>
                          </a:solidFill>
                          <a:latin typeface="Instrument Sans" pitchFamily="34" charset="0"/>
                          <a:ea typeface="Instrument Sans" pitchFamily="34" charset="-122"/>
                          <a:cs typeface="Instrument Sans" pitchFamily="34" charset="-120"/>
                        </a:rPr>
                        <a:t>Total cost</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960"/>
                        </a:lnSpc>
                        <a:buNone/>
                      </a:pPr>
                      <a:r>
                        <a:rPr lang="en-US" sz="1400" b="1" dirty="0">
                          <a:solidFill>
                            <a:srgbClr val="17222A"/>
                          </a:solidFill>
                          <a:latin typeface="Instrument Sans" pitchFamily="34" charset="0"/>
                          <a:ea typeface="Instrument Sans" pitchFamily="34" charset="-122"/>
                          <a:cs typeface="Instrument Sans" pitchFamily="34" charset="-120"/>
                        </a:rPr>
                        <a:t>Per extra booking (range)</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1960"/>
                        </a:lnSpc>
                        <a:buNone/>
                      </a:pPr>
                      <a:r>
                        <a:rPr lang="en-US" sz="1400" b="1" dirty="0">
                          <a:solidFill>
                            <a:srgbClr val="17222A"/>
                          </a:solidFill>
                          <a:latin typeface="Instrument Sans" pitchFamily="34" charset="0"/>
                          <a:ea typeface="Instrument Sans" pitchFamily="34" charset="-122"/>
                          <a:cs typeface="Instrument Sans" pitchFamily="34" charset="-120"/>
                        </a:rPr>
                        <a:t>Break-even</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4369">
                <a:tc>
                  <a:txBody>
                    <a:bodyPr/>
                    <a:lstStyle/>
                    <a:p>
                      <a:pP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₹0 (staff already paid)</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₹73.3 lakh</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₹2,095 (₹1,514–₹4,177)</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4,527 (9.3%)</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2B59F"/>
                      </a:solidFill>
                      <a:prstDash val="solid"/>
                      <a:round/>
                      <a:headEnd type="none" w="med" len="med"/>
                      <a:tailEnd type="none" w="med" len="med"/>
                    </a:lnL>
                    <a:lnR w="12700" cap="flat" cmpd="sng" algn="ctr">
                      <a:solidFill>
                        <a:srgbClr val="C2B59F"/>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2B59F"/>
                      </a:solidFill>
                      <a:prstDash val="solid"/>
                      <a:round/>
                      <a:headEnd type="none" w="med" len="med"/>
                      <a:tailEnd type="none" w="med" len="med"/>
                    </a:lnB>
                    <a:solidFill>
                      <a:srgbClr val="F3E3C6"/>
                    </a:solidFill>
                  </a:tcPr>
                </a:tc>
              </a:tr>
              <a:tr h="384369">
                <a:tc>
                  <a:txBody>
                    <a:bodyPr/>
                    <a:lstStyle/>
                    <a:p>
                      <a:pP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₹150 (the fee Kalpa charges)</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₹97.4 lakh</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₹2,783 (₹2,011–₹5,549)</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6,014 (12.3%)</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2B59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4369">
                <a:tc>
                  <a:txBody>
                    <a:bodyPr/>
                    <a:lstStyle/>
                    <a:p>
                      <a:pP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₹300</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₹121.5 lakh</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₹3,471 (₹2,509–₹6,921)</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7222A"/>
                          </a:solidFill>
                          <a:latin typeface="Instrument Sans" pitchFamily="34" charset="0"/>
                          <a:ea typeface="Instrument Sans" pitchFamily="34" charset="-122"/>
                          <a:cs typeface="Instrument Sans" pitchFamily="34" charset="-120"/>
                        </a:rPr>
                        <a:t>7,501 (15.3%)</a:t>
                      </a:r>
                      <a:endParaRPr lang="en-US" sz="1400" dirty="0">
                        <a:latin typeface="Instrument Sans" charset="0"/>
                        <a:ea typeface="Instrument Sans" charset="0"/>
                        <a:cs typeface="Instrument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Shape 2"/>
          <p:cNvSpPr/>
          <p:nvPr/>
        </p:nvSpPr>
        <p:spPr>
          <a:xfrm>
            <a:off x="815942" y="4420369"/>
            <a:ext cx="5175280" cy="1418438"/>
          </a:xfrm>
          <a:prstGeom prst="roundRect">
            <a:avLst>
              <a:gd name="adj" fmla="val 8730"/>
            </a:avLst>
          </a:prstGeom>
          <a:solidFill>
            <a:srgbClr val="FBFAF6"/>
          </a:solidFill>
          <a:ln w="6350">
            <a:solidFill>
              <a:srgbClr val="D9D2C3"/>
            </a:solidFill>
            <a:prstDash val="solid"/>
          </a:ln>
        </p:spPr>
      </p:sp>
      <p:sp>
        <p:nvSpPr>
          <p:cNvPr id="6" name="Text 3"/>
          <p:cNvSpPr/>
          <p:nvPr/>
        </p:nvSpPr>
        <p:spPr>
          <a:xfrm>
            <a:off x="1020368" y="4624797"/>
            <a:ext cx="4909420"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VALUE PER BOOKING</a:t>
            </a:r>
            <a:endParaRPr lang="en-US" sz="1200" dirty="0"/>
          </a:p>
        </p:txBody>
      </p:sp>
      <p:sp>
        <p:nvSpPr>
          <p:cNvPr id="7" name="Text 4"/>
          <p:cNvSpPr/>
          <p:nvPr/>
        </p:nvSpPr>
        <p:spPr>
          <a:xfrm>
            <a:off x="1020368" y="4914323"/>
            <a:ext cx="4909420" cy="74545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222A"/>
                </a:solidFill>
                <a:latin typeface="Instrument Sans" pitchFamily="34" charset="0"/>
                <a:ea typeface="Instrument Sans" pitchFamily="34" charset="-122"/>
                <a:cs typeface="Instrument Sans" pitchFamily="34" charset="-120"/>
              </a:rPr>
              <a:t>₹16.13 crore of tests booked in Q1 2026 ÷ 99,621 bookings = ₹1,619, at list price. Real revenue is lower: some patients don’t turn up.</a:t>
            </a:r>
            <a:endParaRPr lang="en-US" sz="1400" dirty="0"/>
          </a:p>
        </p:txBody>
      </p:sp>
      <p:sp>
        <p:nvSpPr>
          <p:cNvPr id="8" name="Shape 5"/>
          <p:cNvSpPr/>
          <p:nvPr/>
        </p:nvSpPr>
        <p:spPr>
          <a:xfrm>
            <a:off x="6200764" y="4420369"/>
            <a:ext cx="5175280" cy="1418438"/>
          </a:xfrm>
          <a:prstGeom prst="roundRect">
            <a:avLst>
              <a:gd name="adj" fmla="val 8730"/>
            </a:avLst>
          </a:prstGeom>
          <a:solidFill>
            <a:srgbClr val="FBFAF6"/>
          </a:solidFill>
          <a:ln w="6350">
            <a:solidFill>
              <a:srgbClr val="D9D2C3"/>
            </a:solidFill>
            <a:prstDash val="solid"/>
          </a:ln>
        </p:spPr>
      </p:sp>
      <p:sp>
        <p:nvSpPr>
          <p:cNvPr id="9" name="Text 6"/>
          <p:cNvSpPr/>
          <p:nvPr/>
        </p:nvSpPr>
        <p:spPr>
          <a:xfrm>
            <a:off x="6405190" y="4624797"/>
            <a:ext cx="4909420" cy="2387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5600C"/>
                </a:solidFill>
                <a:latin typeface="Instrument Sans" pitchFamily="34" charset="0"/>
                <a:ea typeface="Instrument Sans" pitchFamily="34" charset="-122"/>
                <a:cs typeface="Instrument Sans" pitchFamily="34" charset="-120"/>
              </a:rPr>
              <a:t>EXTRA HOME VISITS</a:t>
            </a:r>
            <a:endParaRPr lang="en-US" sz="1200" dirty="0"/>
          </a:p>
        </p:txBody>
      </p:sp>
      <p:sp>
        <p:nvSpPr>
          <p:cNvPr id="10" name="Text 7"/>
          <p:cNvSpPr/>
          <p:nvPr/>
        </p:nvSpPr>
        <p:spPr>
          <a:xfrm>
            <a:off x="6405190" y="4914323"/>
            <a:ext cx="4909420" cy="74545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222A"/>
                </a:solidFill>
                <a:latin typeface="Instrument Sans" pitchFamily="34" charset="0"/>
                <a:ea typeface="Instrument Sans" pitchFamily="34" charset="-122"/>
                <a:cs typeface="Instrument Sans" pitchFamily="34" charset="-120"/>
              </a:rPr>
              <a:t>16,053 visits needed a phlebotomist because of the offer: 12,554 moved from a clinic plus 3,499 extra. Visit cost is not in the data.</a:t>
            </a:r>
            <a:endParaRPr lang="en-US" sz="1400" dirty="0"/>
          </a:p>
        </p:txBody>
      </p:sp>
      <p:sp>
        <p:nvSpPr>
          <p:cNvPr id="11" name="Text 8"/>
          <p:cNvSpPr/>
          <p:nvPr/>
        </p:nvSpPr>
        <p:spPr>
          <a:xfrm>
            <a:off x="812767" y="6238236"/>
            <a:ext cx="71945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nstrument Sans" pitchFamily="34" charset="0"/>
                <a:ea typeface="Instrument Sans" pitchFamily="34" charset="-122"/>
                <a:cs typeface="Instrument Sans" pitchFamily="34" charset="-120"/>
              </a:rPr>
              <a:t>Backup · break-even as a share of the 48,869 offer bookings</a:t>
            </a:r>
            <a:endParaRPr lang="en-US" sz="1200" dirty="0"/>
          </a:p>
        </p:txBody>
      </p:sp>
    </p:spTree>
  </p:cSld>
  <p:clrMapOvr>
    <a:masterClrMapping/>
  </p:clrMapOvr>
</p:sld>
</file>

<file path=ppt/theme/theme1.xml><?xml version="1.0" encoding="utf-8"?>
<a:theme xmlns:a="http://schemas.openxmlformats.org/drawingml/2006/main" name="The Offer: Six Slides">
  <a:themeElements>
    <a:clrScheme name="The Offer: Six Slides">
      <a:dk1>
        <a:srgbClr val="17222A"/>
      </a:dk1>
      <a:lt1>
        <a:srgbClr val="F6F3EC"/>
      </a:lt1>
      <a:dk2>
        <a:srgbClr val="4F565B"/>
      </a:dk2>
      <a:lt2>
        <a:srgbClr val="E0DED9"/>
      </a:lt2>
      <a:accent1>
        <a:srgbClr val="D08A1E"/>
      </a:accent1>
      <a:accent2>
        <a:srgbClr val="2F6FB5"/>
      </a:accent2>
      <a:accent3>
        <a:srgbClr val="95600C"/>
      </a:accent3>
      <a:accent4>
        <a:srgbClr val="E3A33A"/>
      </a:accent4>
      <a:accent5>
        <a:srgbClr val="B8432C"/>
      </a:accent5>
      <a:accent6>
        <a:srgbClr val="F08A70"/>
      </a:accent6>
      <a:hlink>
        <a:srgbClr val="0563C1"/>
      </a:hlink>
      <a:folHlink>
        <a:srgbClr val="954F72"/>
      </a:folHlink>
    </a:clrScheme>
    <a:fontScheme name="The Offer: Six Slides">
      <a:majorFont>
        <a:latin typeface="Instrument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strumen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Offer: Six Slides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Instrument Sans
Copyright 2022 The Instrument Sans Project Authors (https://github.com/Instrument/instrument-sans)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Instrument Serif
Copyright 2022 The Instrument Serif Project Authors (https://github.com/Instrument/instrument-serif)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2026-10-24T20:14:28Z</dcterms:created>
  <dcterms:modified xsi:type="dcterms:W3CDTF">2026-10-24T20:14:28Z</dcterms:modified>
</cp:coreProperties>
</file>